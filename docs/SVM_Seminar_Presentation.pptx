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&amp; INTRODUCTION (~45 sec)</a:t>
            </a:r>
          </a:p>
          <a:p/>
          <a:p>
            <a:r>
              <a:t>Good morning respected faculty members and colleagues. </a:t>
            </a:r>
          </a:p>
          <a:p>
            <a:r>
              <a:t>Today, I will present my assigned Machine Learning topic: Support Vector Machines with Different Kernels.</a:t>
            </a:r>
          </a:p>
          <a:p/>
          <a:p>
            <a:r>
              <a:t>In supervised learning, classification problems are frequently complicated by non-linear geometry. While a basic SVM attempts to separate classes with a flat linear boundary, real-world data often demands flexible, higher-dimensional separation.</a:t>
            </a:r>
          </a:p>
          <a:p/>
          <a:p>
            <a:r>
              <a:t>In this presentation, I will cover:</a:t>
            </a:r>
          </a:p>
          <a:p>
            <a:r>
              <a:t>1. The mathematical foundation of maximum-margin classification and support vectors.</a:t>
            </a:r>
          </a:p>
          <a:p>
            <a:r>
              <a:t>2. Why non-linear separation necessitates the kernel trick.</a:t>
            </a:r>
          </a:p>
          <a:p>
            <a:r>
              <a:t>3. The geometric and mathematical behavior of Linear, Polynomial, and RBF kernels.</a:t>
            </a:r>
          </a:p>
          <a:p>
            <a:r>
              <a:t>4. An empirical evaluation using our Python scikit-learn implementation on a non-linear two-moons benchmark.</a:t>
            </a:r>
          </a:p>
          <a:p>
            <a:r>
              <a:t>5. A live code demonstration and viva discussion points.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WHAT IS SVM? (~1 min)</a:t>
            </a:r>
          </a:p>
          <a:p/>
          <a:p>
            <a:r>
              <a:t>TALKING POINTS:</a:t>
            </a:r>
          </a:p>
          <a:p>
            <a:r>
              <a:t>- SVM is a supervised binary classifier (easily extended to multi-class via One-vs-Rest or One-vs-One).</a:t>
            </a:r>
          </a:p>
          <a:p>
            <a:r>
              <a:t>- The fundamental premise is geometric: we want to find a hyperplane wᵀx + b = 0 that divides positive and negative instances.</a:t>
            </a:r>
          </a:p>
          <a:p>
            <a:r>
              <a:t>- Many lines can separate linearly separable data. For example, a standard Rosenblatt perceptron will halt at the very first hyperplane it finds, even if it passes a millimeter away from a training point!</a:t>
            </a:r>
          </a:p>
          <a:p>
            <a:r>
              <a:t>- SVM rejects arbitrary boundaries. It introduces Structural Risk Minimization: by maximizing the distance to the closest points on either side, it provides maximum tolerance against test-time noise.</a:t>
            </a:r>
          </a:p>
          <a:p>
            <a:r>
              <a:t>- Mathematically, the training process is a convex quadratic programming problem. There are no stochastic gradient descent local minima to worry about; the solution found is globally optimal.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MAXIMUM MARGIN (~1 min 15 sec)</a:t>
            </a:r>
          </a:p>
          <a:p/>
          <a:p>
            <a:r>
              <a:t>TALKING POINTS:</a:t>
            </a:r>
          </a:p>
          <a:p>
            <a:r>
              <a:t>- Let us derive why maximizing margin corresponds to minimizing 1/2 ||w||².</a:t>
            </a:r>
          </a:p>
          <a:p>
            <a:r>
              <a:t>- The perpendicular distance of any point x to the plane wᵀx + b = 0 is |wᵀx + b| / ||w||.</a:t>
            </a:r>
          </a:p>
          <a:p>
            <a:r>
              <a:t>- For the closest positive sample, we set wᵀx + b = +1. For the closest negative sample, wᵀx + b = -1.</a:t>
            </a:r>
          </a:p>
          <a:p>
            <a:r>
              <a:t>- Subtracting these two hyperplanes and projecting onto the unit normal vector w/||w|| gives the total margin width: 2 / ||w||.</a:t>
            </a:r>
          </a:p>
          <a:p>
            <a:r>
              <a:t>- To maximize 2 / ||w||, we invert and square it to form the quadratic objective: minimize 1/2 ||w||².</a:t>
            </a:r>
          </a:p>
          <a:p>
            <a:r>
              <a:t>- Notice the crucial theoretical theorem shown at the bottom right: Vapnik proved that the VC dimension depends on the ratio R²/M², where R is the bounding radius of the data and M is the margin.</a:t>
            </a:r>
          </a:p>
          <a:p>
            <a:r>
              <a:t>- This is one of the most celebrated results in machine learning: generalization error is controlled by the margin, regardless of how many dimensions the data lives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SUPPORT VECTORS (~1 min)</a:t>
            </a:r>
          </a:p>
          <a:p/>
          <a:p>
            <a:r>
              <a:t>TALKING POINTS:</a:t>
            </a:r>
          </a:p>
          <a:p>
            <a:r>
              <a:t>- What exactly makes a point a 'Support Vector'?</a:t>
            </a:r>
          </a:p>
          <a:p>
            <a:r>
              <a:t>- In the dual formulation, every training point receives a Lagrange multiplier α_i.</a:t>
            </a:r>
          </a:p>
          <a:p>
            <a:r>
              <a:t>- According to the KKT complementary slackness condition, the product of α_i and the distance constraint must equal zero.</a:t>
            </a:r>
          </a:p>
          <a:p>
            <a:r>
              <a:t>- This creates an incredible mathematical property: for every single data point that is correctly classified outside the margin, α_i MUST be exactly zero!</a:t>
            </a:r>
          </a:p>
          <a:p>
            <a:r>
              <a:t>- Therefore, the optimal weight vector w* is a linear combination containing ONLY the points where α_i &gt; 0.</a:t>
            </a:r>
          </a:p>
          <a:p>
            <a:r>
              <a:t>- These points are called Support Vectors because they physically support the hyperplane like pillars.</a:t>
            </a:r>
          </a:p>
          <a:p>
            <a:r>
              <a:t>- If you perturb or delete any of the other points, the hyperplane does not move at all.</a:t>
            </a:r>
          </a:p>
          <a:p>
            <a:r>
              <a:t>- In our project, we will examine the exact number of support vectors selected by each kernel: Linear chose 117, Poly chose 118, and RBF chose only 95.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LIMITATION OF LINEAR SVM (~1 min)</a:t>
            </a:r>
          </a:p>
          <a:p/>
          <a:p>
            <a:r>
              <a:t>TALKING POINTS:</a:t>
            </a:r>
          </a:p>
          <a:p>
            <a:r>
              <a:t>- Up to this point, we assumed the data can be cleanly divided by a flat sheet of paper.</a:t>
            </a:r>
          </a:p>
          <a:p>
            <a:r>
              <a:t>- But real-world data is messy, non-linear, and geometrically intricate.</a:t>
            </a:r>
          </a:p>
          <a:p>
            <a:r>
              <a:t>- Consider the XOR problem or concentric rings: a straight line simply cannot separate inner circles from outer rings.</a:t>
            </a:r>
          </a:p>
          <a:p>
            <a:r>
              <a:t>- Similarly, in our assigned benchmark — the two-moons dataset — the two classes wrap around each other in interlocking crescents.</a:t>
            </a:r>
          </a:p>
          <a:p>
            <a:r>
              <a:t>- If you force a linear SVM onto this dataset, what happens? It draws a diagonal boundary across the middle, cutting right through both crescents!</a:t>
            </a:r>
          </a:p>
          <a:p>
            <a:r>
              <a:t>- In our experiments, this limits linear accuracy to 85.33%.</a:t>
            </a:r>
          </a:p>
          <a:p>
            <a:r>
              <a:t>- How do we fix this? The answer is one of the most elegant mathematical concepts in machine learning: the Kernel Trick.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THE KERNEL TRICK (~1 min 15 sec)</a:t>
            </a:r>
          </a:p>
          <a:p/>
          <a:p>
            <a:r>
              <a:t>TALKING POINTS:</a:t>
            </a:r>
          </a:p>
          <a:p>
            <a:r>
              <a:t>- Thomas Cover proved in 1965 that if you project non-linear data into a sufficiently high-dimensional space, the probability of it being linearly separable approaches 1.</a:t>
            </a:r>
          </a:p>
          <a:p>
            <a:r>
              <a:t>- But if you project 2D data into 10,000 dimensions, how do you compute anything? You would run out of RAM and CPU time immediately.</a:t>
            </a:r>
          </a:p>
          <a:p>
            <a:r>
              <a:t>- Here is the genius of the Kernel Trick:</a:t>
            </a:r>
          </a:p>
          <a:p>
            <a:r>
              <a:t>- Look at the SVM dual optimization problem. Data points never appear in isolation! They ONLY appear as dot products: x_i dot x_j.</a:t>
            </a:r>
          </a:p>
          <a:p>
            <a:r>
              <a:t>- A kernel function K(x_i, x_j) computes the dot product in the higher-dimensional space directly using only the coordinates in the original low-dimensional space!</a:t>
            </a:r>
          </a:p>
          <a:p>
            <a:r>
              <a:t>- For example, with an RBF kernel, the mapped space is actually infinite-dimensional! We are effectively separating data in an infinite-dimensional space, but our computation time is just evaluating an exponential function in 2D space.</a:t>
            </a:r>
          </a:p>
          <a:p>
            <a:r>
              <a:t>- That is why it is called a 'trick' — we get all the geometric power of infinite dimensions with the computational cost of low dimensions.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THREE KERNELS OVERVIEW (~1 min)</a:t>
            </a:r>
          </a:p>
          <a:p/>
          <a:p>
            <a:r>
              <a:t>TALKING POINTS:</a:t>
            </a:r>
          </a:p>
          <a:p>
            <a:r>
              <a:t>- In our project, we evaluate these three exact kernel functions under identical benchmark conditions.</a:t>
            </a:r>
          </a:p>
          <a:p>
            <a:r>
              <a:t>- Notice the progression in complexity:</a:t>
            </a:r>
          </a:p>
          <a:p>
            <a:r>
              <a:t>  1. Linear: No mapping. Dot product in original space. Only parameter C to tune.</a:t>
            </a:r>
          </a:p>
          <a:p>
            <a:r>
              <a:t>  2. Polynomial: Computes dot product, scales by gamma, adds constant r, and raises to degree d. Models polynomial surfaces.</a:t>
            </a:r>
          </a:p>
          <a:p>
            <a:r>
              <a:t>  3. RBF: Radial Basis Function. Notice the negative Euclidean distance squared inside the exponent.</a:t>
            </a:r>
          </a:p>
          <a:p>
            <a:r>
              <a:t>- In the next three slides, we will examine each of these kernels individually to understand their exact mathematical mechanics.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LINEAR KERNEL (~1 min)</a:t>
            </a:r>
          </a:p>
          <a:p/>
          <a:p>
            <a:r>
              <a:t>TALKING POINTS:</a:t>
            </a:r>
          </a:p>
          <a:p>
            <a:r>
              <a:t>- The linear kernel is simply the standard inner product between two feature vectors: x_i dot x_j.</a:t>
            </a:r>
          </a:p>
          <a:p>
            <a:r>
              <a:t>- It is the simplest and fastest kernel in existence.</a:t>
            </a:r>
          </a:p>
          <a:p>
            <a:r>
              <a:t>- It has a unique advantage that non-linear kernels do not possess:</a:t>
            </a:r>
          </a:p>
          <a:p>
            <a:r>
              <a:t>  Because φ(x) = x, we do NOT need to keep the support vectors around during deployment!</a:t>
            </a:r>
          </a:p>
          <a:p>
            <a:r>
              <a:t>  We can pre-multiply w = sum(α_i * y_i * x_i). This results in a single weight vector of length d.</a:t>
            </a:r>
          </a:p>
          <a:p>
            <a:r>
              <a:t>  At runtime, evaluating a test sample takes just ONE dot product: wᵀx + b. It takes microseconds!</a:t>
            </a:r>
          </a:p>
          <a:p>
            <a:r>
              <a:t>- When is linear SVM appropriate?</a:t>
            </a:r>
          </a:p>
          <a:p>
            <a:r>
              <a:t>  First, text classification: high dimensional sparse matrices are already linearly separable.</a:t>
            </a:r>
          </a:p>
          <a:p>
            <a:r>
              <a:t>  Second, genomics: 20,000 features on 80 samples.</a:t>
            </a:r>
          </a:p>
          <a:p>
            <a:r>
              <a:t>  Third, very large datasets where computing an N-by-N Gram matrix would run out of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POLYNOMIAL KERNEL (~1 min)</a:t>
            </a:r>
          </a:p>
          <a:p/>
          <a:p>
            <a:r>
              <a:t>TALKING POINTS:</a:t>
            </a:r>
          </a:p>
          <a:p>
            <a:r>
              <a:t>- The polynomial kernel introduces curvature by modeling all cross-product terms up to degree d.</a:t>
            </a:r>
          </a:p>
          <a:p>
            <a:r>
              <a:t>- In our project, we used d=3 (cubic polynomial).</a:t>
            </a:r>
          </a:p>
          <a:p>
            <a:r>
              <a:t>- In 2D space, a cubic polynomial expands our 2 input features into a 10-dimensional space.</a:t>
            </a:r>
          </a:p>
          <a:p>
            <a:r>
              <a:t>- The formula is (gamma * x_iᵀ x_j + r)^d.</a:t>
            </a:r>
          </a:p>
          <a:p>
            <a:r>
              <a:t>  Here, r is the independent term that balances the influence of lower-degree terms versus higher-degree terms.</a:t>
            </a:r>
          </a:p>
          <a:p>
            <a:r>
              <a:t>- Why isn't the polynomial kernel used everywhere?</a:t>
            </a:r>
          </a:p>
          <a:p>
            <a:r>
              <a:t>  Two main reasons:</a:t>
            </a:r>
          </a:p>
          <a:p>
            <a:r>
              <a:t>  First, it is a global kernel. A polynomial function extends to infinity; if you have an outlier far away, the polynomial curve bends violently across the entire dataset.</a:t>
            </a:r>
          </a:p>
          <a:p>
            <a:r>
              <a:t>  Second, numerical stability: raising numbers to high powers causes floating-point overflow or underflow. That is why degrees above 3 or 4 are rarely used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RBF KERNEL (~1 min 15 sec)</a:t>
            </a:r>
          </a:p>
          <a:p/>
          <a:p>
            <a:r>
              <a:t>TALKING POINTS:</a:t>
            </a:r>
          </a:p>
          <a:p>
            <a:r>
              <a:t>- The Radial Basis Function (RBF), also known as the Gaussian kernel, is the undisputed workhorse of non-linear SVMs.</a:t>
            </a:r>
          </a:p>
          <a:p>
            <a:r>
              <a:t>- Look at the formula: exp(-gamma * ||x_i - x_j||²).</a:t>
            </a:r>
          </a:p>
          <a:p>
            <a:r>
              <a:t>- Let us ask: what is the dimensionality of the feature space induced by RBF?</a:t>
            </a:r>
          </a:p>
          <a:p>
            <a:r>
              <a:t>- If you take the Taylor expansion of e^u, you get an infinite series of polynomial terms: 1 + u + u²/2! + u³/3! + ...</a:t>
            </a:r>
          </a:p>
          <a:p>
            <a:r>
              <a:t>- That means RBF corresponds to an INFINITE-dimensional Hilbert space!</a:t>
            </a:r>
          </a:p>
          <a:p>
            <a:r>
              <a:t>- In an infinite-dimensional space, almost any dataset with distinct points becomes linearly separable.</a:t>
            </a:r>
          </a:p>
          <a:p>
            <a:r>
              <a:t>- Furthermore, look at the geometry: RBF places a Gaussian bell curve on top of each support vector.</a:t>
            </a:r>
          </a:p>
          <a:p>
            <a:r>
              <a:t>- When a query point comes in, it checks its Euclidean distance to the support vectors. If it is close, it receives high similarity; if it is far away, the Gaussian decays to zero.</a:t>
            </a:r>
          </a:p>
          <a:p>
            <a:r>
              <a:t>- It is localized, numerically stable between 0 and 1, and only requires tuning C and gamma.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HYPERPARAMETERS C AND GAMMA (~1 min 15 sec)</a:t>
            </a:r>
          </a:p>
          <a:p/>
          <a:p>
            <a:r>
              <a:t>TALKING POINTS:</a:t>
            </a:r>
          </a:p>
          <a:p>
            <a:r>
              <a:t>- Tuning an SVM comes down to mastering two critical knobs: C and Gamma.</a:t>
            </a:r>
          </a:p>
          <a:p>
            <a:r>
              <a:t>- First knob: C (Regularization).</a:t>
            </a:r>
          </a:p>
          <a:p>
            <a:r>
              <a:t>  Notice the soft-margin objective function: 1/2 ||w||² + C * sum(xi_i).</a:t>
            </a:r>
          </a:p>
          <a:p>
            <a:r>
              <a:t>  xi_i are the slack variables that measure how far a point violates the margin.</a:t>
            </a:r>
          </a:p>
          <a:p>
            <a:r>
              <a:t>  If you set C to be massive, SVM will refuse to make even a single training error. It will twist the boundary into knots just to get 100% training accuracy, leading to disastrous overfitting on the test set.</a:t>
            </a:r>
          </a:p>
          <a:p>
            <a:r>
              <a:t>  Conversely, if C is small, SVM allows points inside the margin in exchange for a wide, simple highway.</a:t>
            </a:r>
          </a:p>
          <a:p>
            <a:r>
              <a:t>- Second knob: Gamma (for RBF and Poly).</a:t>
            </a:r>
          </a:p>
          <a:p>
            <a:r>
              <a:t>  Gamma controls the width of the Gaussian bell curves.</a:t>
            </a:r>
          </a:p>
          <a:p>
            <a:r>
              <a:t>  Recall gamma = 1 / (2 * sigma²).</a:t>
            </a:r>
          </a:p>
          <a:p>
            <a:r>
              <a:t>  High gamma means tiny sigma — very steep, narrow peaks. Each support vector creates a tiny island around itself. That is classic overfitting.</a:t>
            </a:r>
          </a:p>
          <a:p>
            <a:r>
              <a:t>  Low gamma means huge sigma — very flat, spread-out curves.</a:t>
            </a:r>
          </a:p>
          <a:p>
            <a:r>
              <a:t>- In our project, we fixed C = 1.0 and gamma = 'scale' to ensure an objective, apples-to-apples comparison across all three kernels.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PROJECT OBJECTIVE (~50 sec)</a:t>
            </a:r>
          </a:p>
          <a:p/>
          <a:p>
            <a:r>
              <a:t>TALKING POINTS:</a:t>
            </a:r>
          </a:p>
          <a:p>
            <a:r>
              <a:t>- Now we transition to Part 2: the empirical project implementation.</a:t>
            </a:r>
          </a:p>
          <a:p>
            <a:r>
              <a:t>- In scientific research, an experiment is meaningless unless variables are strictly controlled.</a:t>
            </a:r>
          </a:p>
          <a:p>
            <a:r>
              <a:t>- To compare Linear, Polynomial, and RBF kernels fairly, we designed a controlled experiment in Python using scikit-learn.</a:t>
            </a:r>
          </a:p>
          <a:p>
            <a:r>
              <a:t>- Every single parameter except the kernel function is held constant:</a:t>
            </a:r>
          </a:p>
          <a:p>
            <a:r>
              <a:t>  - Exact same 500 samples.</a:t>
            </a:r>
          </a:p>
          <a:p>
            <a:r>
              <a:t>  - Exact same 70/30 train/test split.</a:t>
            </a:r>
          </a:p>
          <a:p>
            <a:r>
              <a:t>  - Exact same StandardScaler preprocessing.</a:t>
            </a:r>
          </a:p>
          <a:p>
            <a:r>
              <a:t>  - Exact same C = 1.0 regularization.</a:t>
            </a:r>
          </a:p>
          <a:p>
            <a:r>
              <a:t>- This ensures that any difference in accuracy, precision, recall, or support vector count is attributable solely to the mathematical nature of the kernel.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DATASET SPECIFICATION (~50 sec)</a:t>
            </a:r>
          </a:p>
          <a:p/>
          <a:p>
            <a:r>
              <a:t>TALKING POINTS:</a:t>
            </a:r>
          </a:p>
          <a:p>
            <a:r>
              <a:t>- Let us examine our dataset: scikit-learn's make_moons benchmark.</a:t>
            </a:r>
          </a:p>
          <a:p>
            <a:r>
              <a:t>- Why did we choose two-moons instead of an arbitrary synthetic cloud?</a:t>
            </a:r>
          </a:p>
          <a:p>
            <a:r>
              <a:t>  Because two-moons provides a clean, continuous non-linear manifold. The two interlocking crescents wrap around each other.</a:t>
            </a:r>
          </a:p>
          <a:p>
            <a:r>
              <a:t>- We set N = 500 samples with a noise parameter of 0.25.</a:t>
            </a:r>
          </a:p>
          <a:p>
            <a:r>
              <a:t>- The 0.25 noise is crucial: if noise were 0.0, the moons would be thin hairline curves. With 0.25 noise, points spread out and overlap at the cusps.</a:t>
            </a:r>
          </a:p>
          <a:p>
            <a:r>
              <a:t>- The dataset has 2 input features. This is intentional: having 2 features allows us to visualize the exact decision boundaries as continuous 2D contour maps, giving complete geometric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METHODOLOGY &amp; PIPELINE (~1 min)</a:t>
            </a:r>
          </a:p>
          <a:p/>
          <a:p>
            <a:r>
              <a:t>TALKING POINTS:</a:t>
            </a:r>
          </a:p>
          <a:p>
            <a:r>
              <a:t>- This slide displays the clean, reproducible 5-stage pipeline implemented in our project code.</a:t>
            </a:r>
          </a:p>
          <a:p>
            <a:r>
              <a:t>- Notice Stage 3: Feature Scaling. Why is feature scaling mandatory for SVM?</a:t>
            </a:r>
          </a:p>
          <a:p>
            <a:r>
              <a:t>  Because SVM relies directly on distance calculations! For linear SVM, margin width is 2/||w||. For RBF, similarity depends on Euclidean distance ||x_i - x_j||².</a:t>
            </a:r>
          </a:p>
          <a:p>
            <a:r>
              <a:t>  If one feature had a scale of 0 to 1,000 and another had a scale of 0 to 1, the first feature would dominate the distance calculation by a factor of a million!</a:t>
            </a:r>
          </a:p>
          <a:p>
            <a:r>
              <a:t>- Notice the blue callout box at the bottom: Data Leakage Prevention.</a:t>
            </a:r>
          </a:p>
          <a:p>
            <a:r>
              <a:t>  We fit StandardScaler ONLY on X_train. Then we use that fitted scaler to transform X_test.</a:t>
            </a:r>
          </a:p>
          <a:p>
            <a:r>
              <a:t>  This reflects real-world deployment where future test data is unseen at training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EXPERIMENTAL CONFIGURATION (~45 sec)</a:t>
            </a:r>
          </a:p>
          <a:p/>
          <a:p>
            <a:r>
              <a:t>TALKING POINTS:</a:t>
            </a:r>
          </a:p>
          <a:p>
            <a:r>
              <a:t>- This configuration table acts as the definitive specification sheet for our experiment.</a:t>
            </a:r>
          </a:p>
          <a:p>
            <a:r>
              <a:t>- Notice that every parameter has an explicit engineering justification.</a:t>
            </a:r>
          </a:p>
          <a:p>
            <a:r>
              <a:t>- When faculty evaluate an ML project, they look for rigor:</a:t>
            </a:r>
          </a:p>
          <a:p>
            <a:r>
              <a:t>  Did you set a random seed? Yes, 42.</a:t>
            </a:r>
          </a:p>
          <a:p>
            <a:r>
              <a:t>  Did you specify the exact train/test ratio? Yes, 70/30.</a:t>
            </a:r>
          </a:p>
          <a:p>
            <a:r>
              <a:t>  What was the scaling method? StandardScaler.</a:t>
            </a:r>
          </a:p>
          <a:p>
            <a:r>
              <a:t>  What was C? Fixed at 1.0.</a:t>
            </a:r>
          </a:p>
          <a:p>
            <a:r>
              <a:t>  What was gamma? 'scale', which sets gamma = 1 / (n_features * Var(X)).</a:t>
            </a:r>
          </a:p>
          <a:p>
            <a:r>
              <a:t>- Everything is fully documented, reproducible, and transparent.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DECISION BOUNDARIES VISUALIZATION (~1 min 15 sec)</a:t>
            </a:r>
          </a:p>
          <a:p/>
          <a:p>
            <a:r>
              <a:t>TALKING POINTS:</a:t>
            </a:r>
          </a:p>
          <a:p>
            <a:r>
              <a:t>- This is the central visual result of our seminar: the actual decision boundaries produced by running 01_svm_kernel_comparison.py.</a:t>
            </a:r>
          </a:p>
          <a:p>
            <a:r>
              <a:t>- Look at the three subplots:</a:t>
            </a:r>
          </a:p>
          <a:p>
            <a:r>
              <a:t>  1. Subplot 1 (Left - Linear):</a:t>
            </a:r>
          </a:p>
          <a:p>
            <a:r>
              <a:t>     The linear model has no capacity for curvature. It draws a straight line right through the center. While it gets the outer edges right, it makes massive errors wherever the two moons curve inward. Accuracy: 85.33%.</a:t>
            </a:r>
          </a:p>
          <a:p>
            <a:r>
              <a:t>  2. Subplot 2 (Middle - Polynomial degree 3):</a:t>
            </a:r>
          </a:p>
          <a:p>
            <a:r>
              <a:t>     You can clearly see the cubic S-curve! The polynomial boundary bends to follow the upper moon. But notice the lower right: it lacks the localized flexibility to loop around the bottom crescent, leaving an accuracy of 87.33%.</a:t>
            </a:r>
          </a:p>
          <a:p>
            <a:r>
              <a:t>  3. Subplot 3 (Right - RBF):</a:t>
            </a:r>
          </a:p>
          <a:p>
            <a:r>
              <a:t>     Look at how beautifully the RBF boundary hugs the exact contour of both crescents. It weaves between the two classes like a glove. It reaches 94.67% accuracy.</a:t>
            </a:r>
          </a:p>
          <a:p>
            <a:r>
              <a:t>- Now let us examine the quantitative numbers in detail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PERFORMANCE EVALUATION TABLE (~1 min)</a:t>
            </a:r>
          </a:p>
          <a:p/>
          <a:p>
            <a:r>
              <a:t>TALKING POINTS:</a:t>
            </a:r>
          </a:p>
          <a:p>
            <a:r>
              <a:t>- Here is the complete quantitative scorecard from our output file svm_results.txt.</a:t>
            </a:r>
          </a:p>
          <a:p>
            <a:r>
              <a:t>- Let us walk through the numbers:</a:t>
            </a:r>
          </a:p>
          <a:p>
            <a:r>
              <a:t>  1. Accuracy:</a:t>
            </a:r>
          </a:p>
          <a:p>
            <a:r>
              <a:t>     Linear: 85.33%</a:t>
            </a:r>
          </a:p>
          <a:p>
            <a:r>
              <a:t>     Poly (d=3): 87.33%</a:t>
            </a:r>
          </a:p>
          <a:p>
            <a:r>
              <a:t>     RBF: 94.67%</a:t>
            </a:r>
          </a:p>
          <a:p>
            <a:r>
              <a:t>     That is an absolute improvement of +9.34% over Linear.</a:t>
            </a:r>
          </a:p>
          <a:p>
            <a:r>
              <a:t>  2. Precision:</a:t>
            </a:r>
          </a:p>
          <a:p>
            <a:r>
              <a:t>     Look at RBF Precision: 0.9855! That means out of 69 instances predicted as Class 1, 68 were correct and only 1 was misclassified.</a:t>
            </a:r>
          </a:p>
          <a:p>
            <a:r>
              <a:t>  3. F1 Score:</a:t>
            </a:r>
          </a:p>
          <a:p>
            <a:r>
              <a:t>     F1 combines Precision and Recall. RBF achieves 0.9444 compared to 0.8514 for Linear.</a:t>
            </a:r>
          </a:p>
          <a:p>
            <a:r>
              <a:t>  4. Support Vector Count:</a:t>
            </a:r>
          </a:p>
          <a:p>
            <a:r>
              <a:t>     This is the most intriguing result of the entire experiment.</a:t>
            </a:r>
          </a:p>
          <a:p>
            <a:r>
              <a:t>     Linear used 117 SVs. Poly used 118 SVs.</a:t>
            </a:r>
          </a:p>
          <a:p>
            <a:r>
              <a:t>     RBF used only 95 SVs!</a:t>
            </a:r>
          </a:p>
          <a:p>
            <a:r>
              <a:t>     Why does the most accurate model need the FEWEST support vectors? Let us answer that on Slide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TECHNICAL INTERPRETATION (~1 min 15 sec)</a:t>
            </a:r>
          </a:p>
          <a:p/>
          <a:p>
            <a:r>
              <a:t>TALKING POINTS:</a:t>
            </a:r>
          </a:p>
          <a:p>
            <a:r>
              <a:t>- This slide answers the deepest technical questions faculty are likely to ask during the viva.</a:t>
            </a:r>
          </a:p>
          <a:p>
            <a:r>
              <a:t>- Question 1: Why did Linear SVM have MORE support vectors than RBF?</a:t>
            </a:r>
          </a:p>
          <a:p>
            <a:r>
              <a:t>  This seems like a paradox: why would a simple straight line need 117 support vectors when a complex curved boundary needs only 95?</a:t>
            </a:r>
          </a:p>
          <a:p>
            <a:r>
              <a:t>  The answer lies in the soft-margin formulation.</a:t>
            </a:r>
          </a:p>
          <a:p>
            <a:r>
              <a:t>  Whenever a data point falls inside the margin or on the wrong side of the boundary, its slack variable xi_i is greater than zero.</a:t>
            </a:r>
          </a:p>
          <a:p>
            <a:r>
              <a:t>  And by KKT conditions, any point with xi_i &gt; 0 has its dual multiplier pinned to the upper bound: alpha_i = C.</a:t>
            </a:r>
          </a:p>
          <a:p>
            <a:r>
              <a:t>  That means it becomes an active support vector!</a:t>
            </a:r>
          </a:p>
          <a:p>
            <a:r>
              <a:t>  Because Linear SVM is underfitting, dozens of points along the crescent are trapped inside the margin, artificially inflating the support vector count to 117.</a:t>
            </a:r>
          </a:p>
          <a:p>
            <a:r>
              <a:t>- Question 2: Why did Polynomial d=3 achieve only 87.33% accuracy?</a:t>
            </a:r>
          </a:p>
          <a:p>
            <a:r>
              <a:t>  Polynomial kernels are global. A cubic curve cannot bend locally without affecting distant regions.</a:t>
            </a:r>
          </a:p>
          <a:p>
            <a:r>
              <a:t>  RBF is local: Gaussian kernels drop to zero beyond a certain radius, allowing the decision boundary to wiggle precisely between the moons.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LIVE DEMO &amp; INTERACTIVE ACTIVITY (~1 min 15 sec)</a:t>
            </a:r>
          </a:p>
          <a:p/>
          <a:p>
            <a:r>
              <a:t>TALKING POINTS:</a:t>
            </a:r>
          </a:p>
          <a:p>
            <a:r>
              <a:t>- Now I will execute our live Python script 01_svm_kernel_comparison.py in the terminal.</a:t>
            </a:r>
          </a:p>
          <a:p>
            <a:r>
              <a:t>- [Demonstrate terminal execution or walk through the output]:</a:t>
            </a:r>
          </a:p>
          <a:p>
            <a:r>
              <a:t>  In under 2 seconds, scikit-learn fits all three models and produces the exact metrics you saw on Slide 17.</a:t>
            </a:r>
          </a:p>
          <a:p>
            <a:r>
              <a:t>- Next, let us do a quick 30-second interactive learning activity with the audience:</a:t>
            </a:r>
          </a:p>
          <a:p>
            <a:r>
              <a:t>  "Suppose we increase noise from 0.25 to 0.65. Which hyperparameter adjustment prevents RBF from overfitting?"</a:t>
            </a:r>
          </a:p>
          <a:p>
            <a:r>
              <a:t>- Give the audience 5 seconds to think.</a:t>
            </a:r>
          </a:p>
          <a:p>
            <a:r>
              <a:t>- Reveal the answer: Option B.</a:t>
            </a:r>
          </a:p>
          <a:p>
            <a:r>
              <a:t>- Why Option B? Because when noise is severe, trying to separate every point by increasing C or degree will overfit noise. We must DECREASE C to widen the margin and DECREASE gamma to smooth the Gaussian curves.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CONCLUSION &amp; KEY TAKEAWAYS (~1 min)</a:t>
            </a:r>
          </a:p>
          <a:p/>
          <a:p>
            <a:r>
              <a:t>TALKING POINTS:</a:t>
            </a:r>
          </a:p>
          <a:p>
            <a:r>
              <a:t>- To conclude our seminar presentation on Support Vector Machines with Different Kernels:</a:t>
            </a:r>
          </a:p>
          <a:p>
            <a:r>
              <a:t>  1. Kernel selection is not a hyperparameter tweak — it is a fundamental architectural decision about the geometric space in which your model reasons.</a:t>
            </a:r>
          </a:p>
          <a:p>
            <a:r>
              <a:t>  2. Support vector count provides a valuable diagnostic window: a well-fitting kernel aligns with the underlying manifold and yields a sparser model.</a:t>
            </a:r>
          </a:p>
          <a:p>
            <a:r>
              <a:t>  3. In practical engineering, RBF is the premier default for non-linear data, while Linear SVM reigns supreme in high-dimensional text and genomic domains.</a:t>
            </a:r>
          </a:p>
          <a:p>
            <a:r>
              <a:t>- Thank you for your time and attention. I am now ready to take any questions from the faculty.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645920"/>
            <a:ext cx="1097280"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10911535" cy="320040"/>
          </a:xfrm>
          <a:prstGeom prst="rect">
            <a:avLst/>
          </a:prstGeom>
          <a:noFill/>
        </p:spPr>
        <p:txBody>
          <a:bodyPr wrap="square">
            <a:spAutoFit/>
          </a:bodyPr>
          <a:lstStyle/>
          <a:p>
            <a:pPr algn="l"/>
            <a:r>
              <a:rPr sz="1200" b="1" i="0">
                <a:solidFill>
                  <a:srgbClr val="2563EB"/>
                </a:solidFill>
                <a:latin typeface="Aptos"/>
              </a:rPr>
              <a:t>MACHINE LEARNING SEMINAR  |  CSE</a:t>
            </a:r>
          </a:p>
        </p:txBody>
      </p:sp>
      <p:sp>
        <p:nvSpPr>
          <p:cNvPr id="5" name="TextBox 4"/>
          <p:cNvSpPr txBox="1"/>
          <p:nvPr/>
        </p:nvSpPr>
        <p:spPr>
          <a:xfrm>
            <a:off x="640080" y="2194560"/>
            <a:ext cx="10911535" cy="1005840"/>
          </a:xfrm>
          <a:prstGeom prst="rect">
            <a:avLst/>
          </a:prstGeom>
          <a:noFill/>
        </p:spPr>
        <p:txBody>
          <a:bodyPr wrap="square">
            <a:spAutoFit/>
          </a:bodyPr>
          <a:lstStyle/>
          <a:p>
            <a:pPr algn="l"/>
            <a:r>
              <a:rPr sz="3600" b="1" i="0">
                <a:solidFill>
                  <a:srgbClr val="172033"/>
                </a:solidFill>
                <a:latin typeface="Aptos Display"/>
              </a:rPr>
              <a:t>Support Vector Machines with Different Kernels</a:t>
            </a:r>
          </a:p>
        </p:txBody>
      </p:sp>
      <p:sp>
        <p:nvSpPr>
          <p:cNvPr id="6" name="TextBox 5"/>
          <p:cNvSpPr txBox="1"/>
          <p:nvPr/>
        </p:nvSpPr>
        <p:spPr>
          <a:xfrm>
            <a:off x="640080" y="3291840"/>
            <a:ext cx="10911535" cy="411480"/>
          </a:xfrm>
          <a:prstGeom prst="rect">
            <a:avLst/>
          </a:prstGeom>
          <a:noFill/>
        </p:spPr>
        <p:txBody>
          <a:bodyPr wrap="square">
            <a:spAutoFit/>
          </a:bodyPr>
          <a:lstStyle/>
          <a:p>
            <a:pPr algn="l"/>
            <a:r>
              <a:rPr sz="1800" b="0" i="1">
                <a:solidFill>
                  <a:srgbClr val="374151"/>
                </a:solidFill>
                <a:latin typeface="Aptos"/>
              </a:rPr>
              <a:t>An Empirical Investigation of Linear, Polynomial, and RBF Decision Surfaces</a:t>
            </a:r>
          </a:p>
        </p:txBody>
      </p:sp>
      <p:sp>
        <p:nvSpPr>
          <p:cNvPr id="7" name="Rectangle 6"/>
          <p:cNvSpPr/>
          <p:nvPr/>
        </p:nvSpPr>
        <p:spPr>
          <a:xfrm>
            <a:off x="640080" y="3931920"/>
            <a:ext cx="10911535" cy="16459"/>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297680"/>
            <a:ext cx="2286000" cy="274320"/>
          </a:xfrm>
          <a:prstGeom prst="rect">
            <a:avLst/>
          </a:prstGeom>
          <a:noFill/>
        </p:spPr>
        <p:txBody>
          <a:bodyPr wrap="square">
            <a:spAutoFit/>
          </a:bodyPr>
          <a:lstStyle/>
          <a:p>
            <a:pPr algn="l"/>
            <a:r>
              <a:rPr sz="1300" b="1" i="0">
                <a:solidFill>
                  <a:srgbClr val="6B7280"/>
                </a:solidFill>
                <a:latin typeface="Aptos"/>
              </a:rPr>
              <a:t>Presenter:</a:t>
            </a:r>
          </a:p>
        </p:txBody>
      </p:sp>
      <p:sp>
        <p:nvSpPr>
          <p:cNvPr id="9" name="TextBox 8"/>
          <p:cNvSpPr txBox="1"/>
          <p:nvPr/>
        </p:nvSpPr>
        <p:spPr>
          <a:xfrm>
            <a:off x="640080" y="4572000"/>
            <a:ext cx="4114800" cy="274320"/>
          </a:xfrm>
          <a:prstGeom prst="rect">
            <a:avLst/>
          </a:prstGeom>
          <a:noFill/>
        </p:spPr>
        <p:txBody>
          <a:bodyPr wrap="square">
            <a:spAutoFit/>
          </a:bodyPr>
          <a:lstStyle/>
          <a:p>
            <a:pPr algn="l"/>
            <a:r>
              <a:rPr sz="1500" b="1" i="0">
                <a:solidFill>
                  <a:srgbClr val="172033"/>
                </a:solidFill>
                <a:latin typeface="Aptos"/>
              </a:rPr>
              <a:t>Student Presenter (Assigned Topic 1)</a:t>
            </a:r>
          </a:p>
        </p:txBody>
      </p:sp>
      <p:sp>
        <p:nvSpPr>
          <p:cNvPr id="10" name="TextBox 9"/>
          <p:cNvSpPr txBox="1"/>
          <p:nvPr/>
        </p:nvSpPr>
        <p:spPr>
          <a:xfrm>
            <a:off x="5212080" y="4297680"/>
            <a:ext cx="2743200" cy="274320"/>
          </a:xfrm>
          <a:prstGeom prst="rect">
            <a:avLst/>
          </a:prstGeom>
          <a:noFill/>
        </p:spPr>
        <p:txBody>
          <a:bodyPr wrap="square">
            <a:spAutoFit/>
          </a:bodyPr>
          <a:lstStyle/>
          <a:p>
            <a:pPr algn="l"/>
            <a:r>
              <a:rPr sz="1300" b="1" i="0">
                <a:solidFill>
                  <a:srgbClr val="6B7280"/>
                </a:solidFill>
                <a:latin typeface="Aptos"/>
              </a:rPr>
              <a:t>Seminar Context:</a:t>
            </a:r>
          </a:p>
        </p:txBody>
      </p:sp>
      <p:sp>
        <p:nvSpPr>
          <p:cNvPr id="11" name="TextBox 10"/>
          <p:cNvSpPr txBox="1"/>
          <p:nvPr/>
        </p:nvSpPr>
        <p:spPr>
          <a:xfrm>
            <a:off x="5212080" y="4572000"/>
            <a:ext cx="3200400" cy="274320"/>
          </a:xfrm>
          <a:prstGeom prst="rect">
            <a:avLst/>
          </a:prstGeom>
          <a:noFill/>
        </p:spPr>
        <p:txBody>
          <a:bodyPr wrap="square">
            <a:spAutoFit/>
          </a:bodyPr>
          <a:lstStyle/>
          <a:p>
            <a:pPr algn="l"/>
            <a:r>
              <a:rPr sz="1500" b="1" i="0">
                <a:solidFill>
                  <a:srgbClr val="172033"/>
                </a:solidFill>
                <a:latin typeface="Aptos"/>
              </a:rPr>
              <a:t>Team 15 Technical Seminar Series</a:t>
            </a:r>
          </a:p>
        </p:txBody>
      </p:sp>
      <p:sp>
        <p:nvSpPr>
          <p:cNvPr id="12" name="TextBox 11"/>
          <p:cNvSpPr txBox="1"/>
          <p:nvPr/>
        </p:nvSpPr>
        <p:spPr>
          <a:xfrm>
            <a:off x="8869680" y="4297680"/>
            <a:ext cx="2286000" cy="274320"/>
          </a:xfrm>
          <a:prstGeom prst="rect">
            <a:avLst/>
          </a:prstGeom>
          <a:noFill/>
        </p:spPr>
        <p:txBody>
          <a:bodyPr wrap="square">
            <a:spAutoFit/>
          </a:bodyPr>
          <a:lstStyle/>
          <a:p>
            <a:pPr algn="l"/>
            <a:r>
              <a:rPr sz="1300" b="1" i="0">
                <a:solidFill>
                  <a:srgbClr val="6B7280"/>
                </a:solidFill>
                <a:latin typeface="Aptos"/>
              </a:rPr>
              <a:t>Scope:</a:t>
            </a:r>
          </a:p>
        </p:txBody>
      </p:sp>
      <p:sp>
        <p:nvSpPr>
          <p:cNvPr id="13" name="TextBox 12"/>
          <p:cNvSpPr txBox="1"/>
          <p:nvPr/>
        </p:nvSpPr>
        <p:spPr>
          <a:xfrm>
            <a:off x="8869680" y="4572000"/>
            <a:ext cx="2743200" cy="274320"/>
          </a:xfrm>
          <a:prstGeom prst="rect">
            <a:avLst/>
          </a:prstGeom>
          <a:noFill/>
        </p:spPr>
        <p:txBody>
          <a:bodyPr wrap="square">
            <a:spAutoFit/>
          </a:bodyPr>
          <a:lstStyle/>
          <a:p>
            <a:pPr algn="l"/>
            <a:r>
              <a:rPr sz="1500" b="1" i="0">
                <a:solidFill>
                  <a:srgbClr val="172033"/>
                </a:solidFill>
                <a:latin typeface="Aptos"/>
              </a:rPr>
              <a:t>Supervised Non-Linear Classification</a:t>
            </a:r>
          </a:p>
        </p:txBody>
      </p:sp>
      <p:sp>
        <p:nvSpPr>
          <p:cNvPr id="14" name="Rectangle 13"/>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16" name="TextBox 15"/>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 of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01 — FOUNDATIONS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What is a Support Vector Machine?</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2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Supervised Learning for Robust Classification</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Formulated by Vladimir Vapnik and Corinna Cortes (1995).</a:t>
            </a:r>
          </a:p>
          <a:p>
            <a:pPr algn="l">
              <a:spcBef>
                <a:spcPts val="600"/>
              </a:spcBef>
            </a:pPr>
            <a:r>
              <a:rPr sz="1400">
                <a:solidFill>
                  <a:srgbClr val="172033"/>
                </a:solidFill>
                <a:latin typeface="Aptos"/>
              </a:rPr>
              <a:t>•  A supervised classification algorithm that constructs an optimal decision boundary (hyperplane) separating two or more classes.</a:t>
            </a:r>
          </a:p>
          <a:p>
            <a:pPr algn="l">
              <a:spcBef>
                <a:spcPts val="600"/>
              </a:spcBef>
            </a:pPr>
            <a:r>
              <a:rPr sz="1400">
                <a:solidFill>
                  <a:srgbClr val="172033"/>
                </a:solidFill>
                <a:latin typeface="Aptos"/>
              </a:rPr>
              <a:t>•  Decision rule for binary labels y ∈ {-1, +1}:</a:t>
            </a:r>
          </a:p>
          <a:p>
            <a:pPr algn="l">
              <a:spcBef>
                <a:spcPts val="600"/>
              </a:spcBef>
            </a:pPr>
            <a:r>
              <a:rPr sz="1100">
                <a:solidFill>
                  <a:srgbClr val="6B7280"/>
                </a:solidFill>
                <a:latin typeface="Aptos"/>
              </a:rPr>
              <a:t>        - f(x) = sign( wᵀx + b )</a:t>
            </a:r>
          </a:p>
          <a:p>
            <a:pPr algn="l">
              <a:spcBef>
                <a:spcPts val="600"/>
              </a:spcBef>
            </a:pPr>
            <a:r>
              <a:rPr sz="1400">
                <a:solidFill>
                  <a:srgbClr val="172033"/>
                </a:solidFill>
                <a:latin typeface="Aptos"/>
              </a:rPr>
              <a:t>•  Points with wᵀx + b &gt; 0 are assigned to Class +1; points with wᵀx + b &lt; 0 are assigned to Class -1.</a:t>
            </a:r>
          </a:p>
          <a:p>
            <a:pPr algn="l">
              <a:spcBef>
                <a:spcPts val="600"/>
              </a:spcBef>
            </a:pPr>
            <a:r>
              <a:rPr sz="1400">
                <a:solidFill>
                  <a:srgbClr val="172033"/>
                </a:solidFill>
                <a:latin typeface="Aptos"/>
              </a:rPr>
              <a:t>•  Unlike Perceptrons or Logistic Regression, which find any arbitrary separating line, SVM specifically finds the boundary that maximizes the safety margin.</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Two Foundational Pillars</a:t>
            </a:r>
          </a:p>
        </p:txBody>
      </p:sp>
      <p:sp>
        <p:nvSpPr>
          <p:cNvPr id="12" name="Rectangle 11"/>
          <p:cNvSpPr/>
          <p:nvPr/>
        </p:nvSpPr>
        <p:spPr>
          <a:xfrm>
            <a:off x="6336792" y="1892808"/>
            <a:ext cx="5212080" cy="1645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6792" y="1892808"/>
            <a:ext cx="54864" cy="16459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984248"/>
            <a:ext cx="4937760" cy="274320"/>
          </a:xfrm>
          <a:prstGeom prst="rect">
            <a:avLst/>
          </a:prstGeom>
          <a:noFill/>
        </p:spPr>
        <p:txBody>
          <a:bodyPr wrap="square">
            <a:spAutoFit/>
          </a:bodyPr>
          <a:lstStyle/>
          <a:p>
            <a:pPr algn="l"/>
            <a:r>
              <a:rPr sz="1500" b="1" i="0">
                <a:solidFill>
                  <a:srgbClr val="172033"/>
                </a:solidFill>
                <a:latin typeface="Aptos"/>
              </a:rPr>
              <a:t>1. Structural Risk Minimization (SRM)</a:t>
            </a:r>
          </a:p>
        </p:txBody>
      </p:sp>
      <p:sp>
        <p:nvSpPr>
          <p:cNvPr id="15" name="TextBox 14"/>
          <p:cNvSpPr txBox="1"/>
          <p:nvPr/>
        </p:nvSpPr>
        <p:spPr>
          <a:xfrm>
            <a:off x="6519672" y="2304288"/>
            <a:ext cx="4892040" cy="1097280"/>
          </a:xfrm>
          <a:prstGeom prst="rect">
            <a:avLst/>
          </a:prstGeom>
          <a:noFill/>
        </p:spPr>
        <p:txBody>
          <a:bodyPr wrap="square">
            <a:spAutoFit/>
          </a:bodyPr>
          <a:lstStyle/>
          <a:p>
            <a:pPr algn="l"/>
            <a:r>
              <a:rPr sz="1300" b="0" i="0">
                <a:solidFill>
                  <a:srgbClr val="374151"/>
                </a:solidFill>
                <a:latin typeface="Aptos"/>
              </a:rPr>
              <a:t>Standard algorithms minimize empirical training error. SVM minimizes both empirical risk and model complexity (Vapnik-Chervonenkis dimension), leading to superior theoretical generalization on unseen data.</a:t>
            </a:r>
          </a:p>
        </p:txBody>
      </p:sp>
      <p:sp>
        <p:nvSpPr>
          <p:cNvPr id="16" name="Rectangle 15"/>
          <p:cNvSpPr/>
          <p:nvPr/>
        </p:nvSpPr>
        <p:spPr>
          <a:xfrm>
            <a:off x="6336792" y="3767328"/>
            <a:ext cx="5212080" cy="1645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792" y="3767328"/>
            <a:ext cx="54864" cy="16459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3858768"/>
            <a:ext cx="4937760" cy="274320"/>
          </a:xfrm>
          <a:prstGeom prst="rect">
            <a:avLst/>
          </a:prstGeom>
          <a:noFill/>
        </p:spPr>
        <p:txBody>
          <a:bodyPr wrap="square">
            <a:spAutoFit/>
          </a:bodyPr>
          <a:lstStyle/>
          <a:p>
            <a:pPr algn="l"/>
            <a:r>
              <a:rPr sz="1500" b="1" i="0">
                <a:solidFill>
                  <a:srgbClr val="172033"/>
                </a:solidFill>
                <a:latin typeface="Aptos"/>
              </a:rPr>
              <a:t>2. Convex Quadratic Optimization</a:t>
            </a:r>
          </a:p>
        </p:txBody>
      </p:sp>
      <p:sp>
        <p:nvSpPr>
          <p:cNvPr id="19" name="TextBox 18"/>
          <p:cNvSpPr txBox="1"/>
          <p:nvPr/>
        </p:nvSpPr>
        <p:spPr>
          <a:xfrm>
            <a:off x="6519672" y="4178808"/>
            <a:ext cx="4892040" cy="1097280"/>
          </a:xfrm>
          <a:prstGeom prst="rect">
            <a:avLst/>
          </a:prstGeom>
          <a:noFill/>
        </p:spPr>
        <p:txBody>
          <a:bodyPr wrap="square">
            <a:spAutoFit/>
          </a:bodyPr>
          <a:lstStyle/>
          <a:p>
            <a:pPr algn="l"/>
            <a:r>
              <a:rPr sz="1300" b="0" i="0">
                <a:solidFill>
                  <a:srgbClr val="374151"/>
                </a:solidFill>
                <a:latin typeface="Aptos"/>
              </a:rPr>
              <a:t>The SVM objective is strictly convex. This guarantees that any local minimum is the unique global minimum. Unlike deep neural networks, training an SVM is deterministic and immune to local minima traps.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01 — FOUNDATIONS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The Core Principle: Maximum Margin</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3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Geometric Margin &amp; Canonical Hyperplane</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Let the decision hyperplane be wᵀx + b = 0.</a:t>
            </a:r>
          </a:p>
          <a:p>
            <a:pPr algn="l">
              <a:spcBef>
                <a:spcPts val="500"/>
              </a:spcBef>
            </a:pPr>
            <a:r>
              <a:rPr sz="1400">
                <a:solidFill>
                  <a:srgbClr val="172033"/>
                </a:solidFill>
                <a:latin typeface="Aptos"/>
              </a:rPr>
              <a:t>•  The signed perpendicular distance from any point xᵢ to the hyperplane is given by:</a:t>
            </a:r>
          </a:p>
          <a:p>
            <a:pPr algn="l">
              <a:spcBef>
                <a:spcPts val="500"/>
              </a:spcBef>
            </a:pPr>
            <a:r>
              <a:rPr sz="1100">
                <a:solidFill>
                  <a:srgbClr val="6B7280"/>
                </a:solidFill>
                <a:latin typeface="Aptos"/>
              </a:rPr>
              <a:t>        - γᵢ = yᵢ ( wᵀxᵢ + b ) / ||w||</a:t>
            </a:r>
          </a:p>
          <a:p>
            <a:pPr algn="l">
              <a:spcBef>
                <a:spcPts val="500"/>
              </a:spcBef>
            </a:pPr>
            <a:r>
              <a:rPr sz="1400">
                <a:solidFill>
                  <a:srgbClr val="172033"/>
                </a:solidFill>
                <a:latin typeface="Aptos"/>
              </a:rPr>
              <a:t>•  By scaling w and b, we define the canonical hyperplane such that the closest points satisfy:</a:t>
            </a:r>
          </a:p>
          <a:p>
            <a:pPr algn="l">
              <a:spcBef>
                <a:spcPts val="500"/>
              </a:spcBef>
            </a:pPr>
            <a:r>
              <a:rPr sz="1100">
                <a:solidFill>
                  <a:srgbClr val="6B7280"/>
                </a:solidFill>
                <a:latin typeface="Aptos"/>
              </a:rPr>
              <a:t>        - min | wᵀxᵢ + b | = 1</a:t>
            </a:r>
          </a:p>
          <a:p>
            <a:pPr algn="l">
              <a:spcBef>
                <a:spcPts val="500"/>
              </a:spcBef>
            </a:pPr>
            <a:r>
              <a:rPr sz="1400">
                <a:solidFill>
                  <a:srgbClr val="172033"/>
                </a:solidFill>
                <a:latin typeface="Aptos"/>
              </a:rPr>
              <a:t>•  Total margin width between the two boundary slabs is:</a:t>
            </a:r>
          </a:p>
          <a:p>
            <a:pPr algn="l">
              <a:spcBef>
                <a:spcPts val="500"/>
              </a:spcBef>
            </a:pPr>
            <a:r>
              <a:rPr sz="1100">
                <a:solidFill>
                  <a:srgbClr val="6B7280"/>
                </a:solidFill>
                <a:latin typeface="Aptos"/>
              </a:rPr>
              <a:t>        - Margin (M) = 2 / ||w||</a:t>
            </a:r>
          </a:p>
          <a:p>
            <a:pPr algn="l">
              <a:spcBef>
                <a:spcPts val="500"/>
              </a:spcBef>
            </a:pPr>
            <a:r>
              <a:rPr sz="1400">
                <a:solidFill>
                  <a:srgbClr val="172033"/>
                </a:solidFill>
                <a:latin typeface="Aptos"/>
              </a:rPr>
              <a:t>•  Maximizing the margin M is mathematically identical to minimizing 1/2 ||w||².</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Hard-Margin Optimization Problem</a:t>
            </a:r>
          </a:p>
        </p:txBody>
      </p:sp>
      <p:sp>
        <p:nvSpPr>
          <p:cNvPr id="12" name="Rectangle 11"/>
          <p:cNvSpPr/>
          <p:nvPr/>
        </p:nvSpPr>
        <p:spPr>
          <a:xfrm>
            <a:off x="6336792" y="1892808"/>
            <a:ext cx="5212080" cy="1554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6792" y="1892808"/>
            <a:ext cx="5212080"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075688"/>
            <a:ext cx="4663440" cy="1188720"/>
          </a:xfrm>
          <a:prstGeom prst="rect">
            <a:avLst/>
          </a:prstGeom>
          <a:noFill/>
        </p:spPr>
        <p:txBody>
          <a:bodyPr wrap="square">
            <a:spAutoFit/>
          </a:bodyPr>
          <a:lstStyle/>
          <a:p>
            <a:pPr algn="l"/>
            <a:r>
              <a:rPr sz="1600" b="1" i="0">
                <a:solidFill>
                  <a:srgbClr val="172033"/>
                </a:solidFill>
                <a:latin typeface="Courier New"/>
              </a:rPr>
              <a:t>minimizeᵂ,ᵇ    ½ ||w||²
subject to   yᵢ(wᵀxᵢ + b) ≥ 1,   ∀ i = 1, …, n</a:t>
            </a:r>
          </a:p>
        </p:txBody>
      </p:sp>
      <p:sp>
        <p:nvSpPr>
          <p:cNvPr id="15" name="TextBox 14"/>
          <p:cNvSpPr txBox="1"/>
          <p:nvPr/>
        </p:nvSpPr>
        <p:spPr>
          <a:xfrm>
            <a:off x="6336792" y="3630168"/>
            <a:ext cx="5212080" cy="320040"/>
          </a:xfrm>
          <a:prstGeom prst="rect">
            <a:avLst/>
          </a:prstGeom>
          <a:noFill/>
        </p:spPr>
        <p:txBody>
          <a:bodyPr wrap="square">
            <a:spAutoFit/>
          </a:bodyPr>
          <a:lstStyle/>
          <a:p>
            <a:pPr algn="l"/>
            <a:r>
              <a:rPr sz="1600" b="1" i="0">
                <a:solidFill>
                  <a:srgbClr val="172033"/>
                </a:solidFill>
                <a:latin typeface="Aptos"/>
              </a:rPr>
              <a:t>Why Margin Maximization Prevents Overfitting:</a:t>
            </a:r>
          </a:p>
        </p:txBody>
      </p:sp>
      <p:sp>
        <p:nvSpPr>
          <p:cNvPr id="16" name="TextBox 15"/>
          <p:cNvSpPr txBox="1"/>
          <p:nvPr/>
        </p:nvSpPr>
        <p:spPr>
          <a:xfrm>
            <a:off x="6336792" y="3995928"/>
            <a:ext cx="5212080" cy="2011680"/>
          </a:xfrm>
          <a:prstGeom prst="rect">
            <a:avLst/>
          </a:prstGeom>
          <a:noFill/>
        </p:spPr>
        <p:txBody>
          <a:bodyPr wrap="square">
            <a:spAutoFit/>
          </a:bodyPr>
          <a:lstStyle/>
          <a:p>
            <a:pPr algn="l"/>
            <a:r>
              <a:rPr sz="1350">
                <a:solidFill>
                  <a:srgbClr val="172033"/>
                </a:solidFill>
                <a:latin typeface="Aptos"/>
              </a:rPr>
              <a:t>•  Large margin acts as a geometric regularization constraint.</a:t>
            </a:r>
          </a:p>
          <a:p>
            <a:pPr algn="l">
              <a:spcBef>
                <a:spcPts val="400"/>
              </a:spcBef>
            </a:pPr>
            <a:r>
              <a:rPr sz="1350">
                <a:solidFill>
                  <a:srgbClr val="172033"/>
                </a:solidFill>
                <a:latin typeface="Aptos"/>
              </a:rPr>
              <a:t>•  Statistical Learning Theory Theorem: The VC dimension of hyperplanes with margin M in a sphere of radius R satisfies: h ≤ min(d, ⌈R²/M²⌉) + 1.</a:t>
            </a:r>
          </a:p>
          <a:p>
            <a:pPr algn="l">
              <a:spcBef>
                <a:spcPts val="400"/>
              </a:spcBef>
            </a:pPr>
            <a:r>
              <a:rPr sz="1350">
                <a:solidFill>
                  <a:srgbClr val="172033"/>
                </a:solidFill>
                <a:latin typeface="Aptos"/>
              </a:rPr>
              <a:t>•  Generalization bounds depend on the margin width M, NOT on the raw dimension of the input space d! This explains why SVMs resist the curse of dimensionality.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01 — FOUNDATIONS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What Are Support Vectors?</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4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The Critical Boundary Instances</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Support vectors are the critical training instances that lie exactly on the margin boundaries:</a:t>
            </a:r>
          </a:p>
          <a:p>
            <a:pPr algn="l">
              <a:spcBef>
                <a:spcPts val="500"/>
              </a:spcBef>
            </a:pPr>
            <a:r>
              <a:rPr sz="1100">
                <a:solidFill>
                  <a:srgbClr val="6B7280"/>
                </a:solidFill>
                <a:latin typeface="Aptos"/>
              </a:rPr>
              <a:t>        - yᵢ ( wᵀxᵢ + b ) = 1</a:t>
            </a:r>
          </a:p>
          <a:p>
            <a:pPr algn="l">
              <a:spcBef>
                <a:spcPts val="500"/>
              </a:spcBef>
            </a:pPr>
            <a:r>
              <a:rPr sz="1400">
                <a:solidFill>
                  <a:srgbClr val="172033"/>
                </a:solidFill>
                <a:latin typeface="Aptos"/>
              </a:rPr>
              <a:t>•  Dual Formulation (Lagrangian Multipliers αᵢ ≥ 0):</a:t>
            </a:r>
          </a:p>
          <a:p>
            <a:pPr algn="l">
              <a:spcBef>
                <a:spcPts val="500"/>
              </a:spcBef>
            </a:pPr>
            <a:r>
              <a:rPr sz="1100">
                <a:solidFill>
                  <a:srgbClr val="6B7280"/>
                </a:solidFill>
                <a:latin typeface="Aptos"/>
              </a:rPr>
              <a:t>        - w* = ∑ᵢ αᵢ yᵢ xᵢ</a:t>
            </a:r>
          </a:p>
          <a:p>
            <a:pPr algn="l">
              <a:spcBef>
                <a:spcPts val="500"/>
              </a:spcBef>
            </a:pPr>
            <a:r>
              <a:rPr sz="1400">
                <a:solidFill>
                  <a:srgbClr val="172033"/>
                </a:solidFill>
                <a:latin typeface="Aptos"/>
              </a:rPr>
              <a:t>•  Karush-Kuhn-Tucker (KKT) Complementary Slackness:</a:t>
            </a:r>
          </a:p>
          <a:p>
            <a:pPr algn="l">
              <a:spcBef>
                <a:spcPts val="500"/>
              </a:spcBef>
            </a:pPr>
            <a:r>
              <a:rPr sz="1100">
                <a:solidFill>
                  <a:srgbClr val="6B7280"/>
                </a:solidFill>
                <a:latin typeface="Aptos"/>
              </a:rPr>
              <a:t>        - αᵢ [ yᵢ ( wᵀxᵢ + b ) - 1 ] = 0</a:t>
            </a:r>
          </a:p>
          <a:p>
            <a:pPr algn="l">
              <a:spcBef>
                <a:spcPts val="500"/>
              </a:spcBef>
            </a:pPr>
            <a:r>
              <a:rPr sz="1400">
                <a:solidFill>
                  <a:srgbClr val="172033"/>
                </a:solidFill>
                <a:latin typeface="Aptos"/>
              </a:rPr>
              <a:t>•  If a point is strictly outside the margin: yᵢ(wᵀxᵢ+b) &gt; 1 ⇒ αᵢ = 0.</a:t>
            </a:r>
          </a:p>
          <a:p>
            <a:pPr algn="l">
              <a:spcBef>
                <a:spcPts val="500"/>
              </a:spcBef>
            </a:pPr>
            <a:r>
              <a:rPr sz="1400">
                <a:solidFill>
                  <a:srgbClr val="172033"/>
                </a:solidFill>
                <a:latin typeface="Aptos"/>
              </a:rPr>
              <a:t>•  Only points on the margin have non-zero dual weights αᵢ &gt; 0.</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Why Support Vectors Matter in Practice</a:t>
            </a:r>
          </a:p>
        </p:txBody>
      </p:sp>
      <p:sp>
        <p:nvSpPr>
          <p:cNvPr id="12" name="Rectangle 11"/>
          <p:cNvSpPr/>
          <p:nvPr/>
        </p:nvSpPr>
        <p:spPr>
          <a:xfrm>
            <a:off x="6336792" y="1892808"/>
            <a:ext cx="521208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984248"/>
            <a:ext cx="4937760" cy="228600"/>
          </a:xfrm>
          <a:prstGeom prst="rect">
            <a:avLst/>
          </a:prstGeom>
          <a:noFill/>
        </p:spPr>
        <p:txBody>
          <a:bodyPr wrap="square">
            <a:spAutoFit/>
          </a:bodyPr>
          <a:lstStyle/>
          <a:p>
            <a:pPr algn="l"/>
            <a:r>
              <a:rPr sz="1500" b="1" i="0">
                <a:solidFill>
                  <a:srgbClr val="172033"/>
                </a:solidFill>
                <a:latin typeface="Aptos"/>
              </a:rPr>
              <a:t>1. Model Sparsity</a:t>
            </a:r>
          </a:p>
        </p:txBody>
      </p:sp>
      <p:sp>
        <p:nvSpPr>
          <p:cNvPr id="14" name="TextBox 13"/>
          <p:cNvSpPr txBox="1"/>
          <p:nvPr/>
        </p:nvSpPr>
        <p:spPr>
          <a:xfrm>
            <a:off x="6519672" y="2258568"/>
            <a:ext cx="4892040" cy="731520"/>
          </a:xfrm>
          <a:prstGeom prst="rect">
            <a:avLst/>
          </a:prstGeom>
          <a:noFill/>
        </p:spPr>
        <p:txBody>
          <a:bodyPr wrap="square">
            <a:spAutoFit/>
          </a:bodyPr>
          <a:lstStyle/>
          <a:p>
            <a:pPr algn="l"/>
            <a:r>
              <a:rPr sz="1300" b="0" i="0">
                <a:solidFill>
                  <a:srgbClr val="374151"/>
                </a:solidFill>
                <a:latin typeface="Aptos"/>
              </a:rPr>
              <a:t>Most training points have αᵢ = 0. The final model stores only the support vectors. All other training points can be completely discarded from memory after training without changing the decision boundary!</a:t>
            </a:r>
          </a:p>
        </p:txBody>
      </p:sp>
      <p:sp>
        <p:nvSpPr>
          <p:cNvPr id="15" name="Rectangle 14"/>
          <p:cNvSpPr/>
          <p:nvPr/>
        </p:nvSpPr>
        <p:spPr>
          <a:xfrm>
            <a:off x="6336792" y="3218688"/>
            <a:ext cx="521208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3310128"/>
            <a:ext cx="4937760" cy="228600"/>
          </a:xfrm>
          <a:prstGeom prst="rect">
            <a:avLst/>
          </a:prstGeom>
          <a:noFill/>
        </p:spPr>
        <p:txBody>
          <a:bodyPr wrap="square">
            <a:spAutoFit/>
          </a:bodyPr>
          <a:lstStyle/>
          <a:p>
            <a:pPr algn="l"/>
            <a:r>
              <a:rPr sz="1500" b="1" i="0">
                <a:solidFill>
                  <a:srgbClr val="172033"/>
                </a:solidFill>
                <a:latin typeface="Aptos"/>
              </a:rPr>
              <a:t>2. Extreme Robustness to Outliers</a:t>
            </a:r>
          </a:p>
        </p:txBody>
      </p:sp>
      <p:sp>
        <p:nvSpPr>
          <p:cNvPr id="17" name="TextBox 16"/>
          <p:cNvSpPr txBox="1"/>
          <p:nvPr/>
        </p:nvSpPr>
        <p:spPr>
          <a:xfrm>
            <a:off x="6519672" y="3584448"/>
            <a:ext cx="4892040" cy="731520"/>
          </a:xfrm>
          <a:prstGeom prst="rect">
            <a:avLst/>
          </a:prstGeom>
          <a:noFill/>
        </p:spPr>
        <p:txBody>
          <a:bodyPr wrap="square">
            <a:spAutoFit/>
          </a:bodyPr>
          <a:lstStyle/>
          <a:p>
            <a:pPr algn="l"/>
            <a:r>
              <a:rPr sz="1300" b="0" i="0">
                <a:solidFill>
                  <a:srgbClr val="374151"/>
                </a:solidFill>
                <a:latin typeface="Aptos"/>
              </a:rPr>
              <a:t>If you add 10,000 extra data points far away from the boundary, the decision plane does not shift by even a single micron. The model is entirely anchored by the support vectors.</a:t>
            </a:r>
          </a:p>
        </p:txBody>
      </p:sp>
      <p:sp>
        <p:nvSpPr>
          <p:cNvPr id="18" name="Rectangle 17"/>
          <p:cNvSpPr/>
          <p:nvPr/>
        </p:nvSpPr>
        <p:spPr>
          <a:xfrm>
            <a:off x="6336792" y="4544568"/>
            <a:ext cx="521208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4636008"/>
            <a:ext cx="4937760" cy="228600"/>
          </a:xfrm>
          <a:prstGeom prst="rect">
            <a:avLst/>
          </a:prstGeom>
          <a:noFill/>
        </p:spPr>
        <p:txBody>
          <a:bodyPr wrap="square">
            <a:spAutoFit/>
          </a:bodyPr>
          <a:lstStyle/>
          <a:p>
            <a:pPr algn="l"/>
            <a:r>
              <a:rPr sz="1500" b="1" i="0">
                <a:solidFill>
                  <a:srgbClr val="172033"/>
                </a:solidFill>
                <a:latin typeface="Aptos"/>
              </a:rPr>
              <a:t>3. Fast Inference Scaling</a:t>
            </a:r>
          </a:p>
        </p:txBody>
      </p:sp>
      <p:sp>
        <p:nvSpPr>
          <p:cNvPr id="20" name="TextBox 19"/>
          <p:cNvSpPr txBox="1"/>
          <p:nvPr/>
        </p:nvSpPr>
        <p:spPr>
          <a:xfrm>
            <a:off x="6519672" y="4910328"/>
            <a:ext cx="4892040" cy="731520"/>
          </a:xfrm>
          <a:prstGeom prst="rect">
            <a:avLst/>
          </a:prstGeom>
          <a:noFill/>
        </p:spPr>
        <p:txBody>
          <a:bodyPr wrap="square">
            <a:spAutoFit/>
          </a:bodyPr>
          <a:lstStyle/>
          <a:p>
            <a:pPr algn="l"/>
            <a:r>
              <a:rPr sz="1300" b="0" i="0">
                <a:solidFill>
                  <a:srgbClr val="374151"/>
                </a:solidFill>
                <a:latin typeface="Aptos"/>
              </a:rPr>
              <a:t>To classify a new query point x_new, the model evaluates K(x_new, xᵢ) only across the N_SV support vectors: O(N_SV · d), completely independent of total training size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02 — THE NEED FOR KERNELS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Why Linear Hyperplanes Are Not Enough</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5 of 20</a:t>
            </a:r>
          </a:p>
        </p:txBody>
      </p:sp>
      <p:sp>
        <p:nvSpPr>
          <p:cNvPr id="9" name="Rectangle 8"/>
          <p:cNvSpPr/>
          <p:nvPr/>
        </p:nvSpPr>
        <p:spPr>
          <a:xfrm>
            <a:off x="640080" y="1481328"/>
            <a:ext cx="5272887"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81328"/>
            <a:ext cx="54864"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72768"/>
            <a:ext cx="4998567" cy="274320"/>
          </a:xfrm>
          <a:prstGeom prst="rect">
            <a:avLst/>
          </a:prstGeom>
          <a:noFill/>
        </p:spPr>
        <p:txBody>
          <a:bodyPr wrap="square">
            <a:spAutoFit/>
          </a:bodyPr>
          <a:lstStyle/>
          <a:p>
            <a:pPr algn="l"/>
            <a:r>
              <a:rPr sz="1600" b="1" i="0">
                <a:solidFill>
                  <a:srgbClr val="172033"/>
                </a:solidFill>
                <a:latin typeface="Aptos"/>
              </a:rPr>
              <a:t>Linearly Separable Case</a:t>
            </a:r>
          </a:p>
        </p:txBody>
      </p:sp>
      <p:sp>
        <p:nvSpPr>
          <p:cNvPr id="12" name="TextBox 11"/>
          <p:cNvSpPr txBox="1"/>
          <p:nvPr/>
        </p:nvSpPr>
        <p:spPr>
          <a:xfrm>
            <a:off x="822960" y="1892808"/>
            <a:ext cx="4998567" cy="685800"/>
          </a:xfrm>
          <a:prstGeom prst="rect">
            <a:avLst/>
          </a:prstGeom>
          <a:noFill/>
        </p:spPr>
        <p:txBody>
          <a:bodyPr wrap="square">
            <a:spAutoFit/>
          </a:bodyPr>
          <a:lstStyle/>
          <a:p>
            <a:pPr algn="l"/>
            <a:r>
              <a:rPr sz="1350" b="0" i="0">
                <a:solidFill>
                  <a:srgbClr val="374151"/>
                </a:solidFill>
                <a:latin typeface="Aptos"/>
              </a:rPr>
              <a:t>Classes can be isolated completely by a single flat hyperplane: wᵀx + b = 0.
Examples: High-dimensional sparse text representations, linearly distinct gene profiles.</a:t>
            </a:r>
          </a:p>
        </p:txBody>
      </p:sp>
      <p:sp>
        <p:nvSpPr>
          <p:cNvPr id="13" name="Rectangle 12"/>
          <p:cNvSpPr/>
          <p:nvPr/>
        </p:nvSpPr>
        <p:spPr>
          <a:xfrm>
            <a:off x="6278727" y="1481328"/>
            <a:ext cx="5272887"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8727" y="1481328"/>
            <a:ext cx="54864"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1572768"/>
            <a:ext cx="4998567" cy="274320"/>
          </a:xfrm>
          <a:prstGeom prst="rect">
            <a:avLst/>
          </a:prstGeom>
          <a:noFill/>
        </p:spPr>
        <p:txBody>
          <a:bodyPr wrap="square">
            <a:spAutoFit/>
          </a:bodyPr>
          <a:lstStyle/>
          <a:p>
            <a:pPr algn="l"/>
            <a:r>
              <a:rPr sz="1600" b="1" i="0">
                <a:solidFill>
                  <a:srgbClr val="172033"/>
                </a:solidFill>
                <a:latin typeface="Aptos"/>
              </a:rPr>
              <a:t>Non-Linearly Separable Case</a:t>
            </a:r>
          </a:p>
        </p:txBody>
      </p:sp>
      <p:sp>
        <p:nvSpPr>
          <p:cNvPr id="16" name="TextBox 15"/>
          <p:cNvSpPr txBox="1"/>
          <p:nvPr/>
        </p:nvSpPr>
        <p:spPr>
          <a:xfrm>
            <a:off x="6461607" y="1892808"/>
            <a:ext cx="4998567" cy="685800"/>
          </a:xfrm>
          <a:prstGeom prst="rect">
            <a:avLst/>
          </a:prstGeom>
          <a:noFill/>
        </p:spPr>
        <p:txBody>
          <a:bodyPr wrap="square">
            <a:spAutoFit/>
          </a:bodyPr>
          <a:lstStyle/>
          <a:p>
            <a:pPr algn="l"/>
            <a:r>
              <a:rPr sz="1350" b="0" i="0">
                <a:solidFill>
                  <a:srgbClr val="374151"/>
                </a:solidFill>
                <a:latin typeface="Aptos"/>
              </a:rPr>
              <a:t>Classes overlap, intertwine, or have curved geometric structures (e.g. concentric circles, XOR, interlocking crescent moons).
No flat plane can separate them without severe error.</a:t>
            </a:r>
          </a:p>
        </p:txBody>
      </p:sp>
      <p:sp>
        <p:nvSpPr>
          <p:cNvPr id="17" name="TextBox 16"/>
          <p:cNvSpPr txBox="1"/>
          <p:nvPr/>
        </p:nvSpPr>
        <p:spPr>
          <a:xfrm>
            <a:off x="640080" y="2898648"/>
            <a:ext cx="10911535" cy="320040"/>
          </a:xfrm>
          <a:prstGeom prst="rect">
            <a:avLst/>
          </a:prstGeom>
          <a:noFill/>
        </p:spPr>
        <p:txBody>
          <a:bodyPr wrap="square">
            <a:spAutoFit/>
          </a:bodyPr>
          <a:lstStyle/>
          <a:p>
            <a:pPr algn="l"/>
            <a:r>
              <a:rPr sz="1800" b="1" i="0">
                <a:solidFill>
                  <a:srgbClr val="172033"/>
                </a:solidFill>
                <a:latin typeface="Aptos"/>
              </a:rPr>
              <a:t>The Geometric Bottleneck in Low-Dimensional Space</a:t>
            </a:r>
          </a:p>
        </p:txBody>
      </p:sp>
      <p:sp>
        <p:nvSpPr>
          <p:cNvPr id="18" name="TextBox 17"/>
          <p:cNvSpPr txBox="1"/>
          <p:nvPr/>
        </p:nvSpPr>
        <p:spPr>
          <a:xfrm>
            <a:off x="640080" y="3310128"/>
            <a:ext cx="10911535" cy="2468880"/>
          </a:xfrm>
          <a:prstGeom prst="rect">
            <a:avLst/>
          </a:prstGeom>
          <a:noFill/>
        </p:spPr>
        <p:txBody>
          <a:bodyPr wrap="square">
            <a:spAutoFit/>
          </a:bodyPr>
          <a:lstStyle/>
          <a:p>
            <a:pPr algn="l"/>
            <a:r>
              <a:rPr sz="1450">
                <a:solidFill>
                  <a:srgbClr val="172033"/>
                </a:solidFill>
                <a:latin typeface="Aptos"/>
              </a:rPr>
              <a:t>•  The Classic XOR Problem: Points (0,0) and (1,1) belong to Class 0, while (0,1) and (1,0) belong to Class 1. No straight line in 2D can achieve &gt;50% accuracy.</a:t>
            </a:r>
          </a:p>
          <a:p>
            <a:pPr algn="l">
              <a:spcBef>
                <a:spcPts val="700"/>
              </a:spcBef>
            </a:pPr>
            <a:r>
              <a:rPr sz="1450">
                <a:solidFill>
                  <a:srgbClr val="172033"/>
                </a:solidFill>
                <a:latin typeface="Aptos"/>
              </a:rPr>
              <a:t>•  The Two-Moons Problem (Our Seminar Benchmark): Two interlocking crescent distributions with noise. A linear boundary cuts across both arcs, misclassifying large clusters of samples.</a:t>
            </a:r>
          </a:p>
          <a:p>
            <a:pPr algn="l">
              <a:spcBef>
                <a:spcPts val="700"/>
              </a:spcBef>
            </a:pPr>
            <a:r>
              <a:rPr sz="1450">
                <a:solidFill>
                  <a:srgbClr val="172033"/>
                </a:solidFill>
                <a:latin typeface="Aptos"/>
              </a:rPr>
              <a:t>•  The Linear Underfitting Trap: When forced onto non-linear data, a linear model suffers from high inductive bias. In our actual experiment, Linear SVM hits an accuracy ceiling of 85.33% with 117 support vectors struggling to compromise along the cut.</a:t>
            </a:r>
          </a:p>
          <a:p>
            <a:pPr algn="l">
              <a:spcBef>
                <a:spcPts val="700"/>
              </a:spcBef>
            </a:pPr>
            <a:r>
              <a:rPr sz="1450">
                <a:solidFill>
                  <a:srgbClr val="172033"/>
                </a:solidFill>
                <a:latin typeface="Aptos"/>
              </a:rPr>
              <a:t>•  The Fundamental Question: How can we give SVM the power to produce non-linear, curved boundaries without losing its convex quadratic optimization guarantees?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02 — THE NEED FOR KERNELS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The Kernel Trick: Mapping Without Computing</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6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Cover's Theorem &amp; High-Dimensional Mapping</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Cover's Theorem on Separability (1965):</a:t>
            </a:r>
          </a:p>
          <a:p>
            <a:pPr algn="l">
              <a:spcBef>
                <a:spcPts val="500"/>
              </a:spcBef>
            </a:pPr>
            <a:r>
              <a:rPr sz="1200">
                <a:solidFill>
                  <a:srgbClr val="374151"/>
                </a:solidFill>
                <a:latin typeface="Aptos"/>
              </a:rPr>
              <a:t>    - A complex pattern-classification problem cast in a high-dimensional space non-linearly is more likely to be linearly separable than in a low-dimensional space.</a:t>
            </a:r>
          </a:p>
          <a:p>
            <a:pPr algn="l">
              <a:spcBef>
                <a:spcPts val="500"/>
              </a:spcBef>
            </a:pPr>
            <a:r>
              <a:rPr sz="1400">
                <a:solidFill>
                  <a:srgbClr val="172033"/>
                </a:solidFill>
                <a:latin typeface="Aptos"/>
              </a:rPr>
              <a:t>•  Mapping Concept: Transform input space x ∈ ℝᵈ to a higher-dimensional feature space ℋ via non-linear mapping φ(x):</a:t>
            </a:r>
          </a:p>
          <a:p>
            <a:pPr algn="l">
              <a:spcBef>
                <a:spcPts val="500"/>
              </a:spcBef>
            </a:pPr>
            <a:r>
              <a:rPr sz="1100">
                <a:solidFill>
                  <a:srgbClr val="6B7280"/>
                </a:solidFill>
                <a:latin typeface="Aptos"/>
              </a:rPr>
              <a:t>        - x ↦ φ(x) ∈ ℋ</a:t>
            </a:r>
          </a:p>
          <a:p>
            <a:pPr algn="l">
              <a:spcBef>
                <a:spcPts val="500"/>
              </a:spcBef>
            </a:pPr>
            <a:r>
              <a:rPr sz="1400">
                <a:solidFill>
                  <a:srgbClr val="172033"/>
                </a:solidFill>
                <a:latin typeface="Aptos"/>
              </a:rPr>
              <a:t>•  In ℋ, the data becomes linearly separable by a standard hyperplane:</a:t>
            </a:r>
          </a:p>
          <a:p>
            <a:pPr algn="l">
              <a:spcBef>
                <a:spcPts val="500"/>
              </a:spcBef>
            </a:pPr>
            <a:r>
              <a:rPr sz="1100">
                <a:solidFill>
                  <a:srgbClr val="6B7280"/>
                </a:solidFill>
                <a:latin typeface="Aptos"/>
              </a:rPr>
              <a:t>        - wᵀφ(x) + b = 0</a:t>
            </a:r>
          </a:p>
          <a:p>
            <a:pPr algn="l">
              <a:spcBef>
                <a:spcPts val="500"/>
              </a:spcBef>
            </a:pPr>
            <a:r>
              <a:rPr sz="1400">
                <a:solidFill>
                  <a:srgbClr val="172033"/>
                </a:solidFill>
                <a:latin typeface="Aptos"/>
              </a:rPr>
              <a:t>•  The Curse of Dimensionality: If ℋ has thousands (or infinite) dimensions, computing and storing φ(x) explicitly is computationally impossible.</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The Kernel Trick Formulation</a:t>
            </a:r>
          </a:p>
        </p:txBody>
      </p:sp>
      <p:sp>
        <p:nvSpPr>
          <p:cNvPr id="12" name="Rectangle 11"/>
          <p:cNvSpPr/>
          <p:nvPr/>
        </p:nvSpPr>
        <p:spPr>
          <a:xfrm>
            <a:off x="6336792" y="1892808"/>
            <a:ext cx="521208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6792" y="1892808"/>
            <a:ext cx="5212080"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2029968"/>
            <a:ext cx="4846320" cy="1188720"/>
          </a:xfrm>
          <a:prstGeom prst="rect">
            <a:avLst/>
          </a:prstGeom>
          <a:noFill/>
        </p:spPr>
        <p:txBody>
          <a:bodyPr wrap="square">
            <a:spAutoFit/>
          </a:bodyPr>
          <a:lstStyle/>
          <a:p>
            <a:pPr algn="l"/>
            <a:r>
              <a:rPr sz="1500" b="1" i="0">
                <a:solidFill>
                  <a:srgbClr val="172033"/>
                </a:solidFill>
                <a:latin typeface="Courier New"/>
              </a:rPr>
              <a:t>K(xᵢ, xⱼ) = ⟨φ(xᵢ), φ(xⱼ)⟩ℋ
Compute inner product in ℋ directly
as a function of inputs in ℝᵈ !</a:t>
            </a:r>
          </a:p>
        </p:txBody>
      </p:sp>
      <p:sp>
        <p:nvSpPr>
          <p:cNvPr id="15" name="TextBox 14"/>
          <p:cNvSpPr txBox="1"/>
          <p:nvPr/>
        </p:nvSpPr>
        <p:spPr>
          <a:xfrm>
            <a:off x="6336792" y="3538728"/>
            <a:ext cx="5212080" cy="320040"/>
          </a:xfrm>
          <a:prstGeom prst="rect">
            <a:avLst/>
          </a:prstGeom>
          <a:noFill/>
        </p:spPr>
        <p:txBody>
          <a:bodyPr wrap="square">
            <a:spAutoFit/>
          </a:bodyPr>
          <a:lstStyle/>
          <a:p>
            <a:pPr algn="l"/>
            <a:r>
              <a:rPr sz="1600" b="1" i="0">
                <a:solidFill>
                  <a:srgbClr val="172033"/>
                </a:solidFill>
                <a:latin typeface="Aptos"/>
              </a:rPr>
              <a:t>Why the Dual Form Makes this Possible:</a:t>
            </a:r>
          </a:p>
        </p:txBody>
      </p:sp>
      <p:sp>
        <p:nvSpPr>
          <p:cNvPr id="16" name="TextBox 15"/>
          <p:cNvSpPr txBox="1"/>
          <p:nvPr/>
        </p:nvSpPr>
        <p:spPr>
          <a:xfrm>
            <a:off x="6336792" y="3904488"/>
            <a:ext cx="5212080" cy="2103120"/>
          </a:xfrm>
          <a:prstGeom prst="rect">
            <a:avLst/>
          </a:prstGeom>
          <a:noFill/>
        </p:spPr>
        <p:txBody>
          <a:bodyPr wrap="square">
            <a:spAutoFit/>
          </a:bodyPr>
          <a:lstStyle/>
          <a:p>
            <a:pPr algn="l"/>
            <a:r>
              <a:rPr sz="1350">
                <a:solidFill>
                  <a:srgbClr val="172033"/>
                </a:solidFill>
                <a:latin typeface="Aptos"/>
              </a:rPr>
              <a:t>•  In the SVM dual formulation, input vectors appear ONLY as inner products ⟨xᵢ, xⱼ⟩:</a:t>
            </a:r>
          </a:p>
          <a:p>
            <a:pPr algn="l">
              <a:spcBef>
                <a:spcPts val="400"/>
              </a:spcBef>
            </a:pPr>
            <a:r>
              <a:rPr sz="1050">
                <a:solidFill>
                  <a:srgbClr val="6B7280"/>
                </a:solidFill>
                <a:latin typeface="Aptos"/>
              </a:rPr>
              <a:t>        - max ∑αᵢ - ½ ∑∑ αᵢαⱼyᵢyⱼ K(xᵢ, xⱼ)</a:t>
            </a:r>
          </a:p>
          <a:p>
            <a:pPr algn="l">
              <a:spcBef>
                <a:spcPts val="400"/>
              </a:spcBef>
            </a:pPr>
            <a:r>
              <a:rPr sz="1350">
                <a:solidFill>
                  <a:srgbClr val="172033"/>
                </a:solidFill>
                <a:latin typeface="Aptos"/>
              </a:rPr>
              <a:t>•  We never need to know what φ(x) actually looks like!</a:t>
            </a:r>
          </a:p>
          <a:p>
            <a:pPr algn="l">
              <a:spcBef>
                <a:spcPts val="400"/>
              </a:spcBef>
            </a:pPr>
            <a:r>
              <a:rPr sz="1350">
                <a:solidFill>
                  <a:srgbClr val="172033"/>
                </a:solidFill>
                <a:latin typeface="Aptos"/>
              </a:rPr>
              <a:t>•  Mercer's Theorem: Any symmetric, positive semi-definite continuous kernel function K(x, z) represents a valid inner product in some reproducing kernel Hilbert space 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03 — KERNEL COMPARISON</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Three Kernel Functions Compared</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7 of 20</a:t>
            </a:r>
          </a:p>
        </p:txBody>
      </p:sp>
      <p:sp>
        <p:nvSpPr>
          <p:cNvPr id="9" name="TextBox 8"/>
          <p:cNvSpPr txBox="1"/>
          <p:nvPr/>
        </p:nvSpPr>
        <p:spPr>
          <a:xfrm>
            <a:off x="640080" y="1435608"/>
            <a:ext cx="10911535" cy="320040"/>
          </a:xfrm>
          <a:prstGeom prst="rect">
            <a:avLst/>
          </a:prstGeom>
          <a:noFill/>
        </p:spPr>
        <p:txBody>
          <a:bodyPr wrap="square">
            <a:spAutoFit/>
          </a:bodyPr>
          <a:lstStyle/>
          <a:p>
            <a:pPr algn="l"/>
            <a:r>
              <a:rPr sz="1500" b="0" i="1">
                <a:solidFill>
                  <a:srgbClr val="374151"/>
                </a:solidFill>
                <a:latin typeface="Aptos"/>
              </a:rPr>
              <a:t>Comparison of mathematical formulations, boundary topologies, and characteristic hyperparameter spaces.</a:t>
            </a:r>
          </a:p>
        </p:txBody>
      </p:sp>
      <p:graphicFrame>
        <p:nvGraphicFramePr>
          <p:cNvPr id="10" name="Table 9"/>
          <p:cNvGraphicFramePr>
            <a:graphicFrameLocks noGrp="1"/>
          </p:cNvGraphicFramePr>
          <p:nvPr/>
        </p:nvGraphicFramePr>
        <p:xfrm>
          <a:off x="640080" y="1847088"/>
          <a:ext cx="10911535" cy="2048256"/>
        </p:xfrm>
        <a:graphic>
          <a:graphicData uri="http://schemas.openxmlformats.org/drawingml/2006/table">
            <a:tbl>
              <a:tblPr firstRow="1" bandRow="1">
                <a:tableStyleId>{5C22544A-7EE6-4342-B048-85BDC9FD1C3A}</a:tableStyleId>
              </a:tblPr>
              <a:tblGrid>
                <a:gridCol w="1828800"/>
                <a:gridCol w="2926080"/>
                <a:gridCol w="2286000"/>
                <a:gridCol w="1371600"/>
                <a:gridCol w="2499055"/>
              </a:tblGrid>
              <a:tr h="512064">
                <a:tc>
                  <a:txBody>
                    <a:bodyPr wrap="square"/>
                    <a:lstStyle/>
                    <a:p>
                      <a:pPr algn="l"/>
                      <a:r>
                        <a:rPr sz="1350" b="1">
                          <a:solidFill>
                            <a:srgbClr val="FFFFFF"/>
                          </a:solidFill>
                          <a:latin typeface="Aptos"/>
                        </a:rPr>
                        <a:t>Kernel Function</a:t>
                      </a:r>
                    </a:p>
                  </a:txBody>
                  <a:tcPr>
                    <a:solidFill>
                      <a:srgbClr val="1E40AF"/>
                    </a:solidFill>
                  </a:tcPr>
                </a:tc>
                <a:tc>
                  <a:txBody>
                    <a:bodyPr wrap="square"/>
                    <a:lstStyle/>
                    <a:p>
                      <a:pPr algn="l"/>
                      <a:r>
                        <a:rPr sz="1350" b="1">
                          <a:solidFill>
                            <a:srgbClr val="FFFFFF"/>
                          </a:solidFill>
                          <a:latin typeface="Aptos"/>
                        </a:rPr>
                        <a:t>Mathematical Formulation</a:t>
                      </a:r>
                    </a:p>
                  </a:txBody>
                  <a:tcPr>
                    <a:solidFill>
                      <a:srgbClr val="1E40AF"/>
                    </a:solidFill>
                  </a:tcPr>
                </a:tc>
                <a:tc>
                  <a:txBody>
                    <a:bodyPr wrap="square"/>
                    <a:lstStyle/>
                    <a:p>
                      <a:pPr algn="l"/>
                      <a:r>
                        <a:rPr sz="1350" b="1">
                          <a:solidFill>
                            <a:srgbClr val="FFFFFF"/>
                          </a:solidFill>
                          <a:latin typeface="Aptos"/>
                        </a:rPr>
                        <a:t>Decision Surface Shape</a:t>
                      </a:r>
                    </a:p>
                  </a:txBody>
                  <a:tcPr>
                    <a:solidFill>
                      <a:srgbClr val="1E40AF"/>
                    </a:solidFill>
                  </a:tcPr>
                </a:tc>
                <a:tc>
                  <a:txBody>
                    <a:bodyPr wrap="square"/>
                    <a:lstStyle/>
                    <a:p>
                      <a:pPr algn="l"/>
                      <a:r>
                        <a:rPr sz="1350" b="1">
                          <a:solidFill>
                            <a:srgbClr val="FFFFFF"/>
                          </a:solidFill>
                          <a:latin typeface="Aptos"/>
                        </a:rPr>
                        <a:t>Free Parameters</a:t>
                      </a:r>
                    </a:p>
                  </a:txBody>
                  <a:tcPr>
                    <a:solidFill>
                      <a:srgbClr val="1E40AF"/>
                    </a:solidFill>
                  </a:tcPr>
                </a:tc>
                <a:tc>
                  <a:txBody>
                    <a:bodyPr wrap="square"/>
                    <a:lstStyle/>
                    <a:p>
                      <a:pPr algn="l"/>
                      <a:r>
                        <a:rPr sz="1350" b="1">
                          <a:solidFill>
                            <a:srgbClr val="FFFFFF"/>
                          </a:solidFill>
                          <a:latin typeface="Aptos"/>
                        </a:rPr>
                        <a:t>Primary Use Case</a:t>
                      </a:r>
                    </a:p>
                  </a:txBody>
                  <a:tcPr>
                    <a:solidFill>
                      <a:srgbClr val="1E40AF"/>
                    </a:solidFill>
                  </a:tcPr>
                </a:tc>
              </a:tr>
              <a:tr h="512064">
                <a:tc>
                  <a:txBody>
                    <a:bodyPr wrap="square"/>
                    <a:lstStyle/>
                    <a:p>
                      <a:pPr algn="l"/>
                      <a:r>
                        <a:rPr sz="1350" b="0">
                          <a:solidFill>
                            <a:srgbClr val="172033"/>
                          </a:solidFill>
                          <a:latin typeface="Aptos"/>
                        </a:rPr>
                        <a:t>Linear</a:t>
                      </a:r>
                    </a:p>
                  </a:txBody>
                  <a:tcPr>
                    <a:solidFill>
                      <a:srgbClr val="FFFFFF"/>
                    </a:solidFill>
                  </a:tcPr>
                </a:tc>
                <a:tc>
                  <a:txBody>
                    <a:bodyPr wrap="square"/>
                    <a:lstStyle/>
                    <a:p>
                      <a:pPr algn="l"/>
                      <a:r>
                        <a:rPr sz="1350" b="0">
                          <a:solidFill>
                            <a:srgbClr val="172033"/>
                          </a:solidFill>
                          <a:latin typeface="Aptos"/>
                        </a:rPr>
                        <a:t>K(xᵢ, xⱼ) = xᵢᵀ xⱼ</a:t>
                      </a:r>
                    </a:p>
                  </a:txBody>
                  <a:tcPr>
                    <a:solidFill>
                      <a:srgbClr val="FFFFFF"/>
                    </a:solidFill>
                  </a:tcPr>
                </a:tc>
                <a:tc>
                  <a:txBody>
                    <a:bodyPr wrap="square"/>
                    <a:lstStyle/>
                    <a:p>
                      <a:pPr algn="l"/>
                      <a:r>
                        <a:rPr sz="1350" b="0">
                          <a:solidFill>
                            <a:srgbClr val="172033"/>
                          </a:solidFill>
                          <a:latin typeface="Aptos"/>
                        </a:rPr>
                        <a:t>Flat (d-1) Hyperplane</a:t>
                      </a:r>
                    </a:p>
                  </a:txBody>
                  <a:tcPr>
                    <a:solidFill>
                      <a:srgbClr val="FFFFFF"/>
                    </a:solidFill>
                  </a:tcPr>
                </a:tc>
                <a:tc>
                  <a:txBody>
                    <a:bodyPr wrap="square"/>
                    <a:lstStyle/>
                    <a:p>
                      <a:pPr algn="l"/>
                      <a:r>
                        <a:rPr sz="1350" b="0">
                          <a:solidFill>
                            <a:srgbClr val="172033"/>
                          </a:solidFill>
                          <a:latin typeface="Aptos"/>
                        </a:rPr>
                        <a:t>C</a:t>
                      </a:r>
                    </a:p>
                  </a:txBody>
                  <a:tcPr>
                    <a:solidFill>
                      <a:srgbClr val="FFFFFF"/>
                    </a:solidFill>
                  </a:tcPr>
                </a:tc>
                <a:tc>
                  <a:txBody>
                    <a:bodyPr wrap="square"/>
                    <a:lstStyle/>
                    <a:p>
                      <a:pPr algn="l"/>
                      <a:r>
                        <a:rPr sz="1350" b="0">
                          <a:solidFill>
                            <a:srgbClr val="172033"/>
                          </a:solidFill>
                          <a:latin typeface="Aptos"/>
                        </a:rPr>
                        <a:t>Text, NLP, High-D (d &gt;&gt; n)</a:t>
                      </a:r>
                    </a:p>
                  </a:txBody>
                  <a:tcPr>
                    <a:solidFill>
                      <a:srgbClr val="FFFFFF"/>
                    </a:solidFill>
                  </a:tcPr>
                </a:tc>
              </a:tr>
              <a:tr h="512064">
                <a:tc>
                  <a:txBody>
                    <a:bodyPr wrap="square"/>
                    <a:lstStyle/>
                    <a:p>
                      <a:pPr algn="l"/>
                      <a:r>
                        <a:rPr sz="1350" b="0">
                          <a:solidFill>
                            <a:srgbClr val="172033"/>
                          </a:solidFill>
                          <a:latin typeface="Aptos"/>
                        </a:rPr>
                        <a:t>Polynomial (d=3)</a:t>
                      </a:r>
                    </a:p>
                  </a:txBody>
                  <a:tcPr>
                    <a:solidFill>
                      <a:srgbClr val="F8FAFC"/>
                    </a:solidFill>
                  </a:tcPr>
                </a:tc>
                <a:tc>
                  <a:txBody>
                    <a:bodyPr wrap="square"/>
                    <a:lstStyle/>
                    <a:p>
                      <a:pPr algn="l"/>
                      <a:r>
                        <a:rPr sz="1350" b="0">
                          <a:solidFill>
                            <a:srgbClr val="172033"/>
                          </a:solidFill>
                          <a:latin typeface="Aptos"/>
                        </a:rPr>
                        <a:t>K(xᵢ, xⱼ) = (γ xᵢᵀ xⱼ + r)ᵈ</a:t>
                      </a:r>
                    </a:p>
                  </a:txBody>
                  <a:tcPr>
                    <a:solidFill>
                      <a:srgbClr val="F8FAFC"/>
                    </a:solidFill>
                  </a:tcPr>
                </a:tc>
                <a:tc>
                  <a:txBody>
                    <a:bodyPr wrap="square"/>
                    <a:lstStyle/>
                    <a:p>
                      <a:pPr algn="l"/>
                      <a:r>
                        <a:rPr sz="1350" b="0">
                          <a:solidFill>
                            <a:srgbClr val="172033"/>
                          </a:solidFill>
                          <a:latin typeface="Aptos"/>
                        </a:rPr>
                        <a:t>Curved Polynomial Surface</a:t>
                      </a:r>
                    </a:p>
                  </a:txBody>
                  <a:tcPr>
                    <a:solidFill>
                      <a:srgbClr val="F8FAFC"/>
                    </a:solidFill>
                  </a:tcPr>
                </a:tc>
                <a:tc>
                  <a:txBody>
                    <a:bodyPr wrap="square"/>
                    <a:lstStyle/>
                    <a:p>
                      <a:pPr algn="l"/>
                      <a:r>
                        <a:rPr sz="1350" b="0">
                          <a:solidFill>
                            <a:srgbClr val="172033"/>
                          </a:solidFill>
                          <a:latin typeface="Aptos"/>
                        </a:rPr>
                        <a:t>C, γ, d, r</a:t>
                      </a:r>
                    </a:p>
                  </a:txBody>
                  <a:tcPr>
                    <a:solidFill>
                      <a:srgbClr val="F8FAFC"/>
                    </a:solidFill>
                  </a:tcPr>
                </a:tc>
                <a:tc>
                  <a:txBody>
                    <a:bodyPr wrap="square"/>
                    <a:lstStyle/>
                    <a:p>
                      <a:pPr algn="l"/>
                      <a:r>
                        <a:rPr sz="1350" b="0">
                          <a:solidFill>
                            <a:srgbClr val="172033"/>
                          </a:solidFill>
                          <a:latin typeface="Aptos"/>
                        </a:rPr>
                        <a:t>Cross-feature interactions</a:t>
                      </a:r>
                    </a:p>
                  </a:txBody>
                  <a:tcPr>
                    <a:solidFill>
                      <a:srgbClr val="F8FAFC"/>
                    </a:solidFill>
                  </a:tcPr>
                </a:tc>
              </a:tr>
              <a:tr h="512064">
                <a:tc>
                  <a:txBody>
                    <a:bodyPr wrap="square"/>
                    <a:lstStyle/>
                    <a:p>
                      <a:pPr algn="l"/>
                      <a:r>
                        <a:rPr sz="1350" b="0">
                          <a:solidFill>
                            <a:srgbClr val="172033"/>
                          </a:solidFill>
                          <a:latin typeface="Aptos"/>
                        </a:rPr>
                        <a:t>RBF (Gaussian)</a:t>
                      </a:r>
                    </a:p>
                  </a:txBody>
                  <a:tcPr>
                    <a:solidFill>
                      <a:srgbClr val="FFFFFF"/>
                    </a:solidFill>
                  </a:tcPr>
                </a:tc>
                <a:tc>
                  <a:txBody>
                    <a:bodyPr wrap="square"/>
                    <a:lstStyle/>
                    <a:p>
                      <a:pPr algn="l"/>
                      <a:r>
                        <a:rPr sz="1350" b="0">
                          <a:solidFill>
                            <a:srgbClr val="172033"/>
                          </a:solidFill>
                          <a:latin typeface="Aptos"/>
                        </a:rPr>
                        <a:t>K(xᵢ, xⱼ) = exp(-γ ||xᵢ - xⱼ||²)</a:t>
                      </a:r>
                    </a:p>
                  </a:txBody>
                  <a:tcPr>
                    <a:solidFill>
                      <a:srgbClr val="FFFFFF"/>
                    </a:solidFill>
                  </a:tcPr>
                </a:tc>
                <a:tc>
                  <a:txBody>
                    <a:bodyPr wrap="square"/>
                    <a:lstStyle/>
                    <a:p>
                      <a:pPr algn="l"/>
                      <a:r>
                        <a:rPr sz="1350" b="0">
                          <a:solidFill>
                            <a:srgbClr val="172033"/>
                          </a:solidFill>
                          <a:latin typeface="Aptos"/>
                        </a:rPr>
                        <a:t>Flexible, Localized Contours</a:t>
                      </a:r>
                    </a:p>
                  </a:txBody>
                  <a:tcPr>
                    <a:solidFill>
                      <a:srgbClr val="FFFFFF"/>
                    </a:solidFill>
                  </a:tcPr>
                </a:tc>
                <a:tc>
                  <a:txBody>
                    <a:bodyPr wrap="square"/>
                    <a:lstStyle/>
                    <a:p>
                      <a:pPr algn="l"/>
                      <a:r>
                        <a:rPr sz="1350" b="0">
                          <a:solidFill>
                            <a:srgbClr val="172033"/>
                          </a:solidFill>
                          <a:latin typeface="Aptos"/>
                        </a:rPr>
                        <a:t>C, γ</a:t>
                      </a:r>
                    </a:p>
                  </a:txBody>
                  <a:tcPr>
                    <a:solidFill>
                      <a:srgbClr val="FFFFFF"/>
                    </a:solidFill>
                  </a:tcPr>
                </a:tc>
                <a:tc>
                  <a:txBody>
                    <a:bodyPr wrap="square"/>
                    <a:lstStyle/>
                    <a:p>
                      <a:pPr algn="l"/>
                      <a:r>
                        <a:rPr sz="1350" b="0">
                          <a:solidFill>
                            <a:srgbClr val="172033"/>
                          </a:solidFill>
                          <a:latin typeface="Aptos"/>
                        </a:rPr>
                        <a:t>General non-linear data</a:t>
                      </a:r>
                    </a:p>
                  </a:txBody>
                  <a:tcPr>
                    <a:solidFill>
                      <a:srgbClr val="FFFFFF"/>
                    </a:solidFill>
                  </a:tcPr>
                </a:tc>
              </a:tr>
            </a:tbl>
          </a:graphicData>
        </a:graphic>
      </p:graphicFrame>
      <p:sp>
        <p:nvSpPr>
          <p:cNvPr id="11" name="TextBox 10"/>
          <p:cNvSpPr txBox="1"/>
          <p:nvPr/>
        </p:nvSpPr>
        <p:spPr>
          <a:xfrm>
            <a:off x="640080" y="4087368"/>
            <a:ext cx="10911535" cy="320040"/>
          </a:xfrm>
          <a:prstGeom prst="rect">
            <a:avLst/>
          </a:prstGeom>
          <a:noFill/>
        </p:spPr>
        <p:txBody>
          <a:bodyPr wrap="square">
            <a:spAutoFit/>
          </a:bodyPr>
          <a:lstStyle/>
          <a:p>
            <a:pPr algn="l"/>
            <a:r>
              <a:rPr sz="1700" b="1" i="0">
                <a:solidFill>
                  <a:srgbClr val="172033"/>
                </a:solidFill>
                <a:latin typeface="Aptos"/>
              </a:rPr>
              <a:t>Comparative Engineering Insights:</a:t>
            </a:r>
          </a:p>
        </p:txBody>
      </p:sp>
      <p:sp>
        <p:nvSpPr>
          <p:cNvPr id="12" name="TextBox 11"/>
          <p:cNvSpPr txBox="1"/>
          <p:nvPr/>
        </p:nvSpPr>
        <p:spPr>
          <a:xfrm>
            <a:off x="640080" y="4453128"/>
            <a:ext cx="10911535" cy="1645920"/>
          </a:xfrm>
          <a:prstGeom prst="rect">
            <a:avLst/>
          </a:prstGeom>
          <a:noFill/>
        </p:spPr>
        <p:txBody>
          <a:bodyPr wrap="square">
            <a:spAutoFit/>
          </a:bodyPr>
          <a:lstStyle/>
          <a:p>
            <a:pPr algn="l"/>
            <a:r>
              <a:rPr sz="1400">
                <a:solidFill>
                  <a:srgbClr val="172033"/>
                </a:solidFill>
                <a:latin typeface="Aptos"/>
              </a:rPr>
              <a:t>•  Linear Kernel is computationally fastest: O(d) prediction time because weights w can be explicitly pre-calculated and stored as a single d-dimensional vector.</a:t>
            </a:r>
          </a:p>
          <a:p>
            <a:pPr algn="l">
              <a:spcBef>
                <a:spcPts val="500"/>
              </a:spcBef>
            </a:pPr>
            <a:r>
              <a:rPr sz="1400">
                <a:solidFill>
                  <a:srgbClr val="172033"/>
                </a:solidFill>
                <a:latin typeface="Aptos"/>
              </a:rPr>
              <a:t>•  Polynomial Kernel introduces explicit feature cross-products up to degree d. Degree 3 models combinations like x₁³, x₁²x₂, x₁x₂², x₂³, etc. Highly sensitive to parameter scaling.</a:t>
            </a:r>
          </a:p>
          <a:p>
            <a:pPr algn="l">
              <a:spcBef>
                <a:spcPts val="500"/>
              </a:spcBef>
            </a:pPr>
            <a:r>
              <a:rPr sz="1400">
                <a:solidFill>
                  <a:srgbClr val="172033"/>
                </a:solidFill>
                <a:latin typeface="Aptos"/>
              </a:rPr>
              <a:t>•  RBF Kernel measures distance-based similarity. Points close to support vectors have similarity → 1; distant points decay exponentially → 0. It is universally regarded as the primary default kernel for non-linear problems.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03 — KERNEL COMPARISON</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Kernel 1: The Linear Kernel</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8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Formulation &amp; Computational Mechanics</a:t>
            </a:r>
          </a:p>
        </p:txBody>
      </p:sp>
      <p:sp>
        <p:nvSpPr>
          <p:cNvPr id="10" name="Rectangle 9"/>
          <p:cNvSpPr/>
          <p:nvPr/>
        </p:nvSpPr>
        <p:spPr>
          <a:xfrm>
            <a:off x="640080" y="1892808"/>
            <a:ext cx="530352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92808"/>
            <a:ext cx="5303520"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75688"/>
            <a:ext cx="4754880" cy="822960"/>
          </a:xfrm>
          <a:prstGeom prst="rect">
            <a:avLst/>
          </a:prstGeom>
          <a:noFill/>
        </p:spPr>
        <p:txBody>
          <a:bodyPr wrap="square">
            <a:spAutoFit/>
          </a:bodyPr>
          <a:lstStyle/>
          <a:p>
            <a:pPr algn="l"/>
            <a:r>
              <a:rPr sz="1600" b="1" i="0">
                <a:solidFill>
                  <a:srgbClr val="172033"/>
                </a:solidFill>
                <a:latin typeface="Courier New"/>
              </a:rPr>
              <a:t>K(xᵢ, xⱼ) = xᵢᵀ xⱼ
Decision Rule: f(x) = sign( wᵀx + b )</a:t>
            </a:r>
          </a:p>
        </p:txBody>
      </p:sp>
      <p:sp>
        <p:nvSpPr>
          <p:cNvPr id="13" name="TextBox 12"/>
          <p:cNvSpPr txBox="1"/>
          <p:nvPr/>
        </p:nvSpPr>
        <p:spPr>
          <a:xfrm>
            <a:off x="640080" y="3264407"/>
            <a:ext cx="5303520" cy="2743200"/>
          </a:xfrm>
          <a:prstGeom prst="rect">
            <a:avLst/>
          </a:prstGeom>
          <a:noFill/>
        </p:spPr>
        <p:txBody>
          <a:bodyPr wrap="square">
            <a:spAutoFit/>
          </a:bodyPr>
          <a:lstStyle/>
          <a:p>
            <a:pPr algn="l"/>
            <a:r>
              <a:rPr sz="1400">
                <a:solidFill>
                  <a:srgbClr val="172033"/>
                </a:solidFill>
                <a:latin typeface="Aptos"/>
              </a:rPr>
              <a:t>•  Feature Space: φ(x) = x. No dimensional expansion occurs; the data remains in original input space ℝᵈ.</a:t>
            </a:r>
          </a:p>
          <a:p>
            <a:pPr algn="l">
              <a:spcBef>
                <a:spcPts val="500"/>
              </a:spcBef>
            </a:pPr>
            <a:r>
              <a:rPr sz="1400">
                <a:solidFill>
                  <a:srgbClr val="172033"/>
                </a:solidFill>
                <a:latin typeface="Aptos"/>
              </a:rPr>
              <a:t>•  Hyperplane Structure: A flat (d-1) dimensional subspace.</a:t>
            </a:r>
          </a:p>
          <a:p>
            <a:pPr algn="l">
              <a:spcBef>
                <a:spcPts val="500"/>
              </a:spcBef>
            </a:pPr>
            <a:r>
              <a:rPr sz="1400">
                <a:solidFill>
                  <a:srgbClr val="172033"/>
                </a:solidFill>
                <a:latin typeface="Aptos"/>
              </a:rPr>
              <a:t>•  Weight Vector Compression: Because φ(x) = x, we can explicitly compute and store w = ∑ αᵢ yᵢ xᵢ as a single d-dimensional vector!</a:t>
            </a:r>
          </a:p>
          <a:p>
            <a:pPr algn="l">
              <a:spcBef>
                <a:spcPts val="500"/>
              </a:spcBef>
            </a:pPr>
            <a:r>
              <a:rPr sz="1400">
                <a:solidFill>
                  <a:srgbClr val="172033"/>
                </a:solidFill>
                <a:latin typeface="Aptos"/>
              </a:rPr>
              <a:t>•  Inference Speed: Exactly O(d) per test point. Testing requires only one vector dot product wᵀx, completely bypassing the need to iterate through support vectors.</a:t>
            </a:r>
          </a:p>
        </p:txBody>
      </p:sp>
      <p:sp>
        <p:nvSpPr>
          <p:cNvPr id="14" name="TextBox 13"/>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When Should You Use a Linear Kernel?</a:t>
            </a:r>
          </a:p>
        </p:txBody>
      </p:sp>
      <p:sp>
        <p:nvSpPr>
          <p:cNvPr id="15" name="TextBox 14"/>
          <p:cNvSpPr txBox="1"/>
          <p:nvPr/>
        </p:nvSpPr>
        <p:spPr>
          <a:xfrm>
            <a:off x="6336792" y="1892808"/>
            <a:ext cx="5212080" cy="3931920"/>
          </a:xfrm>
          <a:prstGeom prst="rect">
            <a:avLst/>
          </a:prstGeom>
          <a:noFill/>
        </p:spPr>
        <p:txBody>
          <a:bodyPr wrap="square">
            <a:spAutoFit/>
          </a:bodyPr>
          <a:lstStyle/>
          <a:p>
            <a:pPr algn="l"/>
            <a:r>
              <a:rPr sz="1400">
                <a:solidFill>
                  <a:srgbClr val="172033"/>
                </a:solidFill>
                <a:latin typeface="Aptos"/>
              </a:rPr>
              <a:t>•  Text Classification &amp; NLP: Bag-of-words and TF-IDF vectors typically have 20,000 to 100,000 features. In such high dimensions, data is almost always linearly separable already.</a:t>
            </a:r>
          </a:p>
          <a:p>
            <a:pPr algn="l">
              <a:spcBef>
                <a:spcPts val="600"/>
              </a:spcBef>
            </a:pPr>
            <a:r>
              <a:rPr sz="1400">
                <a:solidFill>
                  <a:srgbClr val="172033"/>
                </a:solidFill>
                <a:latin typeface="Aptos"/>
              </a:rPr>
              <a:t>•  When Features Far Exceed Samples (d &gt;&gt; n): In bioinformatics (e.g. microarray gene expression data with 10,000 genes and 100 patients), linear SVM provides optimal regularization without overfitting.</a:t>
            </a:r>
          </a:p>
          <a:p>
            <a:pPr algn="l">
              <a:spcBef>
                <a:spcPts val="600"/>
              </a:spcBef>
            </a:pPr>
            <a:r>
              <a:rPr sz="1400">
                <a:solidFill>
                  <a:srgbClr val="172033"/>
                </a:solidFill>
                <a:latin typeface="Aptos"/>
              </a:rPr>
              <a:t>•  Massive Scale Datasets: Training non-linear SVM scales between O(n²) and O(n³). Linear SVMs (like LIBLINEAR / LinearSVC) scale in O(n · d), handling millions of samples in seconds.</a:t>
            </a:r>
          </a:p>
          <a:p>
            <a:pPr algn="l">
              <a:spcBef>
                <a:spcPts val="600"/>
              </a:spcBef>
            </a:pPr>
            <a:r>
              <a:rPr sz="1400">
                <a:solidFill>
                  <a:srgbClr val="172033"/>
                </a:solidFill>
                <a:latin typeface="Aptos"/>
              </a:rPr>
              <a:t>•  Essential Baseline: Always evaluate Linear SVM first before introducing the complexity of non-linear kernels.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03 — KERNEL COMPARISON</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Kernel 2: The Polynomial Kernel</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9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Mathematical Formulation &amp; Degree Expansion</a:t>
            </a:r>
          </a:p>
        </p:txBody>
      </p:sp>
      <p:sp>
        <p:nvSpPr>
          <p:cNvPr id="10" name="Rectangle 9"/>
          <p:cNvSpPr/>
          <p:nvPr/>
        </p:nvSpPr>
        <p:spPr>
          <a:xfrm>
            <a:off x="640080" y="1892808"/>
            <a:ext cx="530352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92808"/>
            <a:ext cx="5303520"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75688"/>
            <a:ext cx="4754880" cy="822960"/>
          </a:xfrm>
          <a:prstGeom prst="rect">
            <a:avLst/>
          </a:prstGeom>
          <a:noFill/>
        </p:spPr>
        <p:txBody>
          <a:bodyPr wrap="square">
            <a:spAutoFit/>
          </a:bodyPr>
          <a:lstStyle/>
          <a:p>
            <a:pPr algn="l"/>
            <a:r>
              <a:rPr sz="1600" b="1" i="0">
                <a:solidFill>
                  <a:srgbClr val="172033"/>
                </a:solidFill>
                <a:latin typeface="Courier New"/>
              </a:rPr>
              <a:t>K(xᵢ, xⱼ) = ( γ xᵢᵀ xⱼ + r )ᵈ
In our project: degree d = 3,  r = 1.0</a:t>
            </a:r>
          </a:p>
        </p:txBody>
      </p:sp>
      <p:sp>
        <p:nvSpPr>
          <p:cNvPr id="13" name="TextBox 12"/>
          <p:cNvSpPr txBox="1"/>
          <p:nvPr/>
        </p:nvSpPr>
        <p:spPr>
          <a:xfrm>
            <a:off x="640080" y="3264407"/>
            <a:ext cx="5303520" cy="2743200"/>
          </a:xfrm>
          <a:prstGeom prst="rect">
            <a:avLst/>
          </a:prstGeom>
          <a:noFill/>
        </p:spPr>
        <p:txBody>
          <a:bodyPr wrap="square">
            <a:spAutoFit/>
          </a:bodyPr>
          <a:lstStyle/>
          <a:p>
            <a:pPr algn="l"/>
            <a:r>
              <a:rPr sz="1400">
                <a:solidFill>
                  <a:srgbClr val="172033"/>
                </a:solidFill>
                <a:latin typeface="Aptos"/>
              </a:rPr>
              <a:t>•  The Degree Parameter (d): Controls the degree of the polynomial. Degree d=1 is linear; degree d=2 captures conics/ellipses; degree d=3 captures cubic inflection curves.</a:t>
            </a:r>
          </a:p>
          <a:p>
            <a:pPr algn="l">
              <a:spcBef>
                <a:spcPts val="500"/>
              </a:spcBef>
            </a:pPr>
            <a:r>
              <a:rPr sz="1400">
                <a:solidFill>
                  <a:srgbClr val="172033"/>
                </a:solidFill>
                <a:latin typeface="Aptos"/>
              </a:rPr>
              <a:t>•  Dimensional Expansion: Maps 2D input (x₁, x₂) into a combinatorial feature space containing all monomials up to degree d.</a:t>
            </a:r>
          </a:p>
          <a:p>
            <a:pPr algn="l">
              <a:spcBef>
                <a:spcPts val="500"/>
              </a:spcBef>
            </a:pPr>
            <a:r>
              <a:rPr sz="1400">
                <a:solidFill>
                  <a:srgbClr val="172033"/>
                </a:solidFill>
                <a:latin typeface="Aptos"/>
              </a:rPr>
              <a:t>•  Dimension of mapped space ℋ is: dim(ℋ) = (d + D)! / (d! D!).</a:t>
            </a:r>
          </a:p>
          <a:p>
            <a:pPr algn="l">
              <a:spcBef>
                <a:spcPts val="500"/>
              </a:spcBef>
            </a:pPr>
            <a:r>
              <a:rPr sz="1400">
                <a:solidFill>
                  <a:srgbClr val="172033"/>
                </a:solidFill>
                <a:latin typeface="Aptos"/>
              </a:rPr>
              <a:t>•  For 2D data with d=3, the mapped vector contains 10 dimensions: (1, √3x₁, √3x₂, √3x₁², √3x₂², √6x₁x₂, x₁³, x₂³, √3x₁²x₂, √3x₁x₂²).</a:t>
            </a:r>
          </a:p>
        </p:txBody>
      </p:sp>
      <p:sp>
        <p:nvSpPr>
          <p:cNvPr id="14" name="TextBox 13"/>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Behavioral Dynamics &amp; Practical Risks</a:t>
            </a:r>
          </a:p>
        </p:txBody>
      </p:sp>
      <p:sp>
        <p:nvSpPr>
          <p:cNvPr id="15" name="TextBox 14"/>
          <p:cNvSpPr txBox="1"/>
          <p:nvPr/>
        </p:nvSpPr>
        <p:spPr>
          <a:xfrm>
            <a:off x="6336792" y="1892808"/>
            <a:ext cx="5212080" cy="3931920"/>
          </a:xfrm>
          <a:prstGeom prst="rect">
            <a:avLst/>
          </a:prstGeom>
          <a:noFill/>
        </p:spPr>
        <p:txBody>
          <a:bodyPr wrap="square">
            <a:spAutoFit/>
          </a:bodyPr>
          <a:lstStyle/>
          <a:p>
            <a:pPr algn="l"/>
            <a:r>
              <a:rPr sz="1400">
                <a:solidFill>
                  <a:srgbClr val="172033"/>
                </a:solidFill>
                <a:latin typeface="Aptos"/>
              </a:rPr>
              <a:t>•  Models Structured Non-Linear Interactions: Useful when prior domain knowledge suggests polynomial interactions (e.g., physical laws, quadratic energy surfaces).</a:t>
            </a:r>
          </a:p>
          <a:p>
            <a:pPr algn="l">
              <a:spcBef>
                <a:spcPts val="600"/>
              </a:spcBef>
            </a:pPr>
            <a:r>
              <a:rPr sz="1400">
                <a:solidFill>
                  <a:srgbClr val="172033"/>
                </a:solidFill>
                <a:latin typeface="Aptos"/>
              </a:rPr>
              <a:t>•  Global Non-Linearity: Polynomial kernels alter the boundary globally across the entire space. Unlike RBF, changing a support vector at the edge can radically warp the boundary thousands of units away.</a:t>
            </a:r>
          </a:p>
          <a:p>
            <a:pPr algn="l">
              <a:spcBef>
                <a:spcPts val="600"/>
              </a:spcBef>
            </a:pPr>
            <a:r>
              <a:rPr sz="1400">
                <a:solidFill>
                  <a:srgbClr val="172033"/>
                </a:solidFill>
                <a:latin typeface="Aptos"/>
              </a:rPr>
              <a:t>•  Numerical Instability Risk: When xᵀz &gt; 1 and d ≥ 4, (xᵀz)ᵈ explodes towards infinity; when xᵀz &lt; 1, it vanishes towards zero. This causes vanishing/exploding gradients during QP optimization.</a:t>
            </a:r>
          </a:p>
          <a:p>
            <a:pPr algn="l">
              <a:spcBef>
                <a:spcPts val="600"/>
              </a:spcBef>
            </a:pPr>
            <a:r>
              <a:rPr sz="1400">
                <a:solidFill>
                  <a:srgbClr val="172033"/>
                </a:solidFill>
                <a:latin typeface="Aptos"/>
              </a:rPr>
              <a:t>•  Hyperparameter Burden: Requires tuning 4 interdependent hyperparameters: C, γ, d, and 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03 — KERNEL COMPARISON</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Kernel 3: Radial Basis Function (RBF)</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10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Formulation &amp; The Infinite-D Feature Space</a:t>
            </a:r>
          </a:p>
        </p:txBody>
      </p:sp>
      <p:sp>
        <p:nvSpPr>
          <p:cNvPr id="10" name="Rectangle 9"/>
          <p:cNvSpPr/>
          <p:nvPr/>
        </p:nvSpPr>
        <p:spPr>
          <a:xfrm>
            <a:off x="640080" y="1892808"/>
            <a:ext cx="5303520"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92808"/>
            <a:ext cx="5303520"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75688"/>
            <a:ext cx="4754880" cy="822960"/>
          </a:xfrm>
          <a:prstGeom prst="rect">
            <a:avLst/>
          </a:prstGeom>
          <a:noFill/>
        </p:spPr>
        <p:txBody>
          <a:bodyPr wrap="square">
            <a:spAutoFit/>
          </a:bodyPr>
          <a:lstStyle/>
          <a:p>
            <a:pPr algn="l"/>
            <a:r>
              <a:rPr sz="1500" b="1" i="0">
                <a:solidFill>
                  <a:srgbClr val="172033"/>
                </a:solidFill>
                <a:latin typeface="Courier New"/>
              </a:rPr>
              <a:t>K(xᵢ, xⱼ) = exp( -γ ||xᵢ - xⱼ||² ) = exp( - ||xᵢ - xⱼ||² / 2σ² )
In our project: γ = 'scale' = 1 / (2 · Var(X))</a:t>
            </a:r>
          </a:p>
        </p:txBody>
      </p:sp>
      <p:sp>
        <p:nvSpPr>
          <p:cNvPr id="13" name="TextBox 12"/>
          <p:cNvSpPr txBox="1"/>
          <p:nvPr/>
        </p:nvSpPr>
        <p:spPr>
          <a:xfrm>
            <a:off x="640080" y="3264407"/>
            <a:ext cx="5303520" cy="2743200"/>
          </a:xfrm>
          <a:prstGeom prst="rect">
            <a:avLst/>
          </a:prstGeom>
          <a:noFill/>
        </p:spPr>
        <p:txBody>
          <a:bodyPr wrap="square">
            <a:spAutoFit/>
          </a:bodyPr>
          <a:lstStyle/>
          <a:p>
            <a:pPr algn="l"/>
            <a:r>
              <a:rPr sz="1400">
                <a:solidFill>
                  <a:srgbClr val="172033"/>
                </a:solidFill>
                <a:latin typeface="Aptos"/>
              </a:rPr>
              <a:t>•  Infinite-Dimensional Hilbert Space Proof: Using the Taylor series expansion of the exponential function:</a:t>
            </a:r>
          </a:p>
          <a:p>
            <a:pPr algn="l">
              <a:spcBef>
                <a:spcPts val="500"/>
              </a:spcBef>
            </a:pPr>
            <a:r>
              <a:rPr sz="1100">
                <a:solidFill>
                  <a:srgbClr val="6B7280"/>
                </a:solidFill>
                <a:latin typeface="Aptos"/>
              </a:rPr>
              <a:t>        - exp(z) = 1 + z + z²/2! + z³/3! + …</a:t>
            </a:r>
          </a:p>
          <a:p>
            <a:pPr algn="l">
              <a:spcBef>
                <a:spcPts val="500"/>
              </a:spcBef>
            </a:pPr>
            <a:r>
              <a:rPr sz="1400">
                <a:solidFill>
                  <a:srgbClr val="172033"/>
                </a:solidFill>
                <a:latin typeface="Aptos"/>
              </a:rPr>
              <a:t>•  The RBF kernel implicitly expands into a polynomial of infinite degree! It projects data into an infinite-dimensional feature space.</a:t>
            </a:r>
          </a:p>
          <a:p>
            <a:pPr algn="l">
              <a:spcBef>
                <a:spcPts val="500"/>
              </a:spcBef>
            </a:pPr>
            <a:r>
              <a:rPr sz="1400">
                <a:solidFill>
                  <a:srgbClr val="172033"/>
                </a:solidFill>
                <a:latin typeface="Aptos"/>
              </a:rPr>
              <a:t>•  Local Similarity Metric: K(xᵢ, xⱼ) = 1 when xᵢ = xⱼ. As distance ||xᵢ - xⱼ|| increases, similarity decays smoothly to 0.</a:t>
            </a:r>
          </a:p>
          <a:p>
            <a:pPr algn="l">
              <a:spcBef>
                <a:spcPts val="500"/>
              </a:spcBef>
            </a:pPr>
            <a:r>
              <a:rPr sz="1400">
                <a:solidFill>
                  <a:srgbClr val="172033"/>
                </a:solidFill>
                <a:latin typeface="Aptos"/>
              </a:rPr>
              <a:t>•  Decision surface is formed by summing localized Gaussian bumps centered at each support vector.</a:t>
            </a:r>
          </a:p>
        </p:txBody>
      </p:sp>
      <p:sp>
        <p:nvSpPr>
          <p:cNvPr id="14" name="TextBox 13"/>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Why RBF is the Gold Standard for Non-Linear ML</a:t>
            </a:r>
          </a:p>
        </p:txBody>
      </p:sp>
      <p:sp>
        <p:nvSpPr>
          <p:cNvPr id="15" name="TextBox 14"/>
          <p:cNvSpPr txBox="1"/>
          <p:nvPr/>
        </p:nvSpPr>
        <p:spPr>
          <a:xfrm>
            <a:off x="6336792" y="1892808"/>
            <a:ext cx="5212080" cy="3931920"/>
          </a:xfrm>
          <a:prstGeom prst="rect">
            <a:avLst/>
          </a:prstGeom>
          <a:noFill/>
        </p:spPr>
        <p:txBody>
          <a:bodyPr wrap="square">
            <a:spAutoFit/>
          </a:bodyPr>
          <a:lstStyle/>
          <a:p>
            <a:pPr algn="l"/>
            <a:r>
              <a:rPr sz="1400">
                <a:solidFill>
                  <a:srgbClr val="172033"/>
                </a:solidFill>
                <a:latin typeface="Aptos"/>
              </a:rPr>
              <a:t>•  Universal Approximator: An RBF network / SVM can approximate any continuous non-linear decision boundary to arbitrary precision.</a:t>
            </a:r>
          </a:p>
          <a:p>
            <a:pPr algn="l">
              <a:spcBef>
                <a:spcPts val="600"/>
              </a:spcBef>
            </a:pPr>
            <a:r>
              <a:rPr sz="1400">
                <a:solidFill>
                  <a:srgbClr val="172033"/>
                </a:solidFill>
                <a:latin typeface="Aptos"/>
              </a:rPr>
              <a:t>•  Strictly Localized Influence: Modifying a point in one cluster only affects the decision boundary locally around its neighborhood; distant boundaries remain unaffected.</a:t>
            </a:r>
          </a:p>
          <a:p>
            <a:pPr algn="l">
              <a:spcBef>
                <a:spcPts val="600"/>
              </a:spcBef>
            </a:pPr>
            <a:r>
              <a:rPr sz="1400">
                <a:solidFill>
                  <a:srgbClr val="172033"/>
                </a:solidFill>
                <a:latin typeface="Aptos"/>
              </a:rPr>
              <a:t>•  Bounded Output: K(x, z) ∈ (0, 1]. Numerical computation is extraordinarily stable — no numerical explosion like high-degree polynomials.</a:t>
            </a:r>
          </a:p>
          <a:p>
            <a:pPr algn="l">
              <a:spcBef>
                <a:spcPts val="600"/>
              </a:spcBef>
            </a:pPr>
            <a:r>
              <a:rPr sz="1400">
                <a:solidFill>
                  <a:srgbClr val="172033"/>
                </a:solidFill>
                <a:latin typeface="Aptos"/>
              </a:rPr>
              <a:t>•  Simpler Hyperparameter Space: Only two hyperparameters to tune: C and γ.</a:t>
            </a:r>
          </a:p>
          <a:p>
            <a:pPr algn="l">
              <a:spcBef>
                <a:spcPts val="600"/>
              </a:spcBef>
            </a:pPr>
            <a:r>
              <a:rPr sz="1400">
                <a:solidFill>
                  <a:srgbClr val="172033"/>
                </a:solidFill>
                <a:latin typeface="Aptos"/>
              </a:rPr>
              <a:t>•  Empirical Superiority: As our two-moons experiment demonstrates, RBF achieves 94.67% accuracy and 0.9855 precision, outclassing both Linear and Polynomial kernels.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03 — KERNEL COMPARISON</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Hyperparameter Dynamics: C and Gamma</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11 of 20</a:t>
            </a:r>
          </a:p>
        </p:txBody>
      </p:sp>
      <p:sp>
        <p:nvSpPr>
          <p:cNvPr id="9" name="Rectangle 8"/>
          <p:cNvSpPr/>
          <p:nvPr/>
        </p:nvSpPr>
        <p:spPr>
          <a:xfrm>
            <a:off x="640080" y="1481328"/>
            <a:ext cx="5272887"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81328"/>
            <a:ext cx="54864"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72768"/>
            <a:ext cx="4998567" cy="274320"/>
          </a:xfrm>
          <a:prstGeom prst="rect">
            <a:avLst/>
          </a:prstGeom>
          <a:noFill/>
        </p:spPr>
        <p:txBody>
          <a:bodyPr wrap="square">
            <a:spAutoFit/>
          </a:bodyPr>
          <a:lstStyle/>
          <a:p>
            <a:pPr algn="l"/>
            <a:r>
              <a:rPr sz="1600" b="1" i="0">
                <a:solidFill>
                  <a:srgbClr val="172033"/>
                </a:solidFill>
                <a:latin typeface="Aptos"/>
              </a:rPr>
              <a:t>Parameter C: Margin vs Error Trade-off</a:t>
            </a:r>
          </a:p>
        </p:txBody>
      </p:sp>
      <p:sp>
        <p:nvSpPr>
          <p:cNvPr id="12" name="TextBox 11"/>
          <p:cNvSpPr txBox="1"/>
          <p:nvPr/>
        </p:nvSpPr>
        <p:spPr>
          <a:xfrm>
            <a:off x="822960" y="1892808"/>
            <a:ext cx="4998567" cy="685800"/>
          </a:xfrm>
          <a:prstGeom prst="rect">
            <a:avLst/>
          </a:prstGeom>
          <a:noFill/>
        </p:spPr>
        <p:txBody>
          <a:bodyPr wrap="square">
            <a:spAutoFit/>
          </a:bodyPr>
          <a:lstStyle/>
          <a:p>
            <a:pPr algn="l"/>
            <a:r>
              <a:rPr sz="1350" b="0" i="0">
                <a:solidFill>
                  <a:srgbClr val="374151"/>
                </a:solidFill>
                <a:latin typeface="Aptos"/>
              </a:rPr>
              <a:t>Objective: min ½||w||² + C ∑ ξᵢ   (Slack variables ξᵢ ≥ 0)
Controls the penalty imposed on margin violations and misclassifications.</a:t>
            </a:r>
          </a:p>
        </p:txBody>
      </p:sp>
      <p:sp>
        <p:nvSpPr>
          <p:cNvPr id="13" name="TextBox 12"/>
          <p:cNvSpPr txBox="1"/>
          <p:nvPr/>
        </p:nvSpPr>
        <p:spPr>
          <a:xfrm>
            <a:off x="640080" y="2898648"/>
            <a:ext cx="5272887" cy="2926080"/>
          </a:xfrm>
          <a:prstGeom prst="rect">
            <a:avLst/>
          </a:prstGeom>
          <a:noFill/>
        </p:spPr>
        <p:txBody>
          <a:bodyPr wrap="square">
            <a:spAutoFit/>
          </a:bodyPr>
          <a:lstStyle/>
          <a:p>
            <a:pPr algn="l"/>
            <a:r>
              <a:rPr sz="1400">
                <a:solidFill>
                  <a:srgbClr val="172033"/>
                </a:solidFill>
                <a:latin typeface="Aptos"/>
              </a:rPr>
              <a:t>•  Small C (e.g. C = 0.01 - 0.1):</a:t>
            </a:r>
          </a:p>
          <a:p>
            <a:pPr algn="l">
              <a:spcBef>
                <a:spcPts val="500"/>
              </a:spcBef>
            </a:pPr>
            <a:r>
              <a:rPr sz="1200">
                <a:solidFill>
                  <a:srgbClr val="374151"/>
                </a:solidFill>
                <a:latin typeface="Aptos"/>
              </a:rPr>
              <a:t>    - - High tolerance for margin violations (ξᵢ &gt; 0).</a:t>
            </a:r>
          </a:p>
          <a:p>
            <a:pPr algn="l">
              <a:spcBef>
                <a:spcPts val="500"/>
              </a:spcBef>
            </a:pPr>
            <a:r>
              <a:rPr sz="1200">
                <a:solidFill>
                  <a:srgbClr val="374151"/>
                </a:solidFill>
                <a:latin typeface="Aptos"/>
              </a:rPr>
              <a:t>    - - Prioritizes a wider margin; smoother boundary.</a:t>
            </a:r>
          </a:p>
          <a:p>
            <a:pPr algn="l">
              <a:spcBef>
                <a:spcPts val="500"/>
              </a:spcBef>
            </a:pPr>
            <a:r>
              <a:rPr sz="1200">
                <a:solidFill>
                  <a:srgbClr val="374151"/>
                </a:solidFill>
                <a:latin typeface="Aptos"/>
              </a:rPr>
              <a:t>    - - High Bias, Low Variance (prevents overfitting to noise).</a:t>
            </a:r>
          </a:p>
          <a:p>
            <a:pPr algn="l">
              <a:spcBef>
                <a:spcPts val="500"/>
              </a:spcBef>
            </a:pPr>
            <a:r>
              <a:rPr sz="1400">
                <a:solidFill>
                  <a:srgbClr val="172033"/>
                </a:solidFill>
                <a:latin typeface="Aptos"/>
              </a:rPr>
              <a:t>•  Large C (e.g. C = 100 - 1000):</a:t>
            </a:r>
          </a:p>
          <a:p>
            <a:pPr algn="l">
              <a:spcBef>
                <a:spcPts val="500"/>
              </a:spcBef>
            </a:pPr>
            <a:r>
              <a:rPr sz="1200">
                <a:solidFill>
                  <a:srgbClr val="374151"/>
                </a:solidFill>
                <a:latin typeface="Aptos"/>
              </a:rPr>
              <a:t>    - - Heavy penalty for any misclassified training point.</a:t>
            </a:r>
          </a:p>
          <a:p>
            <a:pPr algn="l">
              <a:spcBef>
                <a:spcPts val="500"/>
              </a:spcBef>
            </a:pPr>
            <a:r>
              <a:rPr sz="1200">
                <a:solidFill>
                  <a:srgbClr val="374151"/>
                </a:solidFill>
                <a:latin typeface="Aptos"/>
              </a:rPr>
              <a:t>    - - Forces a narrow margin; complex jagged boundary.</a:t>
            </a:r>
          </a:p>
          <a:p>
            <a:pPr algn="l">
              <a:spcBef>
                <a:spcPts val="500"/>
              </a:spcBef>
            </a:pPr>
            <a:r>
              <a:rPr sz="1200">
                <a:solidFill>
                  <a:srgbClr val="374151"/>
                </a:solidFill>
                <a:latin typeface="Aptos"/>
              </a:rPr>
              <a:t>    - - Low Bias, High Variance (severe risk of overfitting).</a:t>
            </a:r>
          </a:p>
          <a:p>
            <a:pPr algn="l">
              <a:spcBef>
                <a:spcPts val="500"/>
              </a:spcBef>
            </a:pPr>
            <a:r>
              <a:rPr sz="1400">
                <a:solidFill>
                  <a:srgbClr val="172033"/>
                </a:solidFill>
                <a:latin typeface="Aptos"/>
              </a:rPr>
              <a:t>•  In our project: C = 1.0 provides balanced regularization.</a:t>
            </a:r>
          </a:p>
        </p:txBody>
      </p:sp>
      <p:sp>
        <p:nvSpPr>
          <p:cNvPr id="14" name="Rectangle 13"/>
          <p:cNvSpPr/>
          <p:nvPr/>
        </p:nvSpPr>
        <p:spPr>
          <a:xfrm>
            <a:off x="6278727" y="1481328"/>
            <a:ext cx="5272887"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481328"/>
            <a:ext cx="54864"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607" y="1572768"/>
            <a:ext cx="4998567" cy="274320"/>
          </a:xfrm>
          <a:prstGeom prst="rect">
            <a:avLst/>
          </a:prstGeom>
          <a:noFill/>
        </p:spPr>
        <p:txBody>
          <a:bodyPr wrap="square">
            <a:spAutoFit/>
          </a:bodyPr>
          <a:lstStyle/>
          <a:p>
            <a:pPr algn="l"/>
            <a:r>
              <a:rPr sz="1600" b="1" i="0">
                <a:solidFill>
                  <a:srgbClr val="172033"/>
                </a:solidFill>
                <a:latin typeface="Aptos"/>
              </a:rPr>
              <a:t>Parameter γ: Radius of Kernel Influence</a:t>
            </a:r>
          </a:p>
        </p:txBody>
      </p:sp>
      <p:sp>
        <p:nvSpPr>
          <p:cNvPr id="17" name="TextBox 16"/>
          <p:cNvSpPr txBox="1"/>
          <p:nvPr/>
        </p:nvSpPr>
        <p:spPr>
          <a:xfrm>
            <a:off x="6461607" y="1892808"/>
            <a:ext cx="4998567" cy="685800"/>
          </a:xfrm>
          <a:prstGeom prst="rect">
            <a:avLst/>
          </a:prstGeom>
          <a:noFill/>
        </p:spPr>
        <p:txBody>
          <a:bodyPr wrap="square">
            <a:spAutoFit/>
          </a:bodyPr>
          <a:lstStyle/>
          <a:p>
            <a:pPr algn="l"/>
            <a:r>
              <a:rPr sz="1350" b="0" i="0">
                <a:solidFill>
                  <a:srgbClr val="374151"/>
                </a:solidFill>
                <a:latin typeface="Aptos"/>
              </a:rPr>
              <a:t>In RBF: K(xᵢ, xⱼ) = exp(-γ ||xᵢ - xⱼ||²)   where γ = 1 / (2σ²)
Governs the effective radius of influence of each individual support vector.</a:t>
            </a:r>
          </a:p>
        </p:txBody>
      </p:sp>
      <p:sp>
        <p:nvSpPr>
          <p:cNvPr id="18" name="TextBox 17"/>
          <p:cNvSpPr txBox="1"/>
          <p:nvPr/>
        </p:nvSpPr>
        <p:spPr>
          <a:xfrm>
            <a:off x="6278727" y="2898648"/>
            <a:ext cx="5272887" cy="2926080"/>
          </a:xfrm>
          <a:prstGeom prst="rect">
            <a:avLst/>
          </a:prstGeom>
          <a:noFill/>
        </p:spPr>
        <p:txBody>
          <a:bodyPr wrap="square">
            <a:spAutoFit/>
          </a:bodyPr>
          <a:lstStyle/>
          <a:p>
            <a:pPr algn="l"/>
            <a:r>
              <a:rPr sz="1400">
                <a:solidFill>
                  <a:srgbClr val="172033"/>
                </a:solidFill>
                <a:latin typeface="Aptos"/>
              </a:rPr>
              <a:t>•  Small γ (e.g. γ = 0.01):</a:t>
            </a:r>
          </a:p>
          <a:p>
            <a:pPr algn="l">
              <a:spcBef>
                <a:spcPts val="500"/>
              </a:spcBef>
            </a:pPr>
            <a:r>
              <a:rPr sz="1200">
                <a:solidFill>
                  <a:srgbClr val="374151"/>
                </a:solidFill>
                <a:latin typeface="Aptos"/>
              </a:rPr>
              <a:t>    - - Large variance σ²; broad, wide Gaussian bell curve.</a:t>
            </a:r>
          </a:p>
          <a:p>
            <a:pPr algn="l">
              <a:spcBef>
                <a:spcPts val="500"/>
              </a:spcBef>
            </a:pPr>
            <a:r>
              <a:rPr sz="1200">
                <a:solidFill>
                  <a:srgbClr val="374151"/>
                </a:solidFill>
                <a:latin typeface="Aptos"/>
              </a:rPr>
              <a:t>    - - Support vector influence extends far across the space.</a:t>
            </a:r>
          </a:p>
          <a:p>
            <a:pPr algn="l">
              <a:spcBef>
                <a:spcPts val="500"/>
              </a:spcBef>
            </a:pPr>
            <a:r>
              <a:rPr sz="1200">
                <a:solidFill>
                  <a:srgbClr val="374151"/>
                </a:solidFill>
                <a:latin typeface="Aptos"/>
              </a:rPr>
              <a:t>    - - Boundary becomes nearly linear/flat; risks underfitting.</a:t>
            </a:r>
          </a:p>
          <a:p>
            <a:pPr algn="l">
              <a:spcBef>
                <a:spcPts val="500"/>
              </a:spcBef>
            </a:pPr>
            <a:r>
              <a:rPr sz="1400">
                <a:solidFill>
                  <a:srgbClr val="172033"/>
                </a:solidFill>
                <a:latin typeface="Aptos"/>
              </a:rPr>
              <a:t>•  Large γ (e.g. γ = 10 - 100):</a:t>
            </a:r>
          </a:p>
          <a:p>
            <a:pPr algn="l">
              <a:spcBef>
                <a:spcPts val="500"/>
              </a:spcBef>
            </a:pPr>
            <a:r>
              <a:rPr sz="1200">
                <a:solidFill>
                  <a:srgbClr val="374151"/>
                </a:solidFill>
                <a:latin typeface="Aptos"/>
              </a:rPr>
              <a:t>    - - Small variance σ²; narrow, needle-like Gaussian peaks.</a:t>
            </a:r>
          </a:p>
          <a:p>
            <a:pPr algn="l">
              <a:spcBef>
                <a:spcPts val="500"/>
              </a:spcBef>
            </a:pPr>
            <a:r>
              <a:rPr sz="1200">
                <a:solidFill>
                  <a:srgbClr val="374151"/>
                </a:solidFill>
                <a:latin typeface="Aptos"/>
              </a:rPr>
              <a:t>    - - Support vector influence is strictly local.</a:t>
            </a:r>
          </a:p>
          <a:p>
            <a:pPr algn="l">
              <a:spcBef>
                <a:spcPts val="500"/>
              </a:spcBef>
            </a:pPr>
            <a:r>
              <a:rPr sz="1200">
                <a:solidFill>
                  <a:srgbClr val="374151"/>
                </a:solidFill>
                <a:latin typeface="Aptos"/>
              </a:rPr>
              <a:t>    - - Creates isolated circular 'islands' around training points.</a:t>
            </a:r>
          </a:p>
          <a:p>
            <a:pPr algn="l">
              <a:spcBef>
                <a:spcPts val="500"/>
              </a:spcBef>
            </a:pPr>
            <a:r>
              <a:rPr sz="1400">
                <a:solidFill>
                  <a:srgbClr val="172033"/>
                </a:solidFill>
                <a:latin typeface="Aptos"/>
              </a:rPr>
              <a:t>•  In our project: γ = 'scale' automatically sets γ = 1 / (n_features · Var(X)).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04 — EXPERIMENTAL PROJECT</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Project Objective: Controlled Kernel Comparison</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12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The Experimental Problem Statement</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Primary Goal: Conduct a rigorous empirical evaluation comparing Linear, Polynomial (degree=3), and RBF kernels on identical non-linear data.</a:t>
            </a:r>
          </a:p>
          <a:p>
            <a:pPr algn="l">
              <a:spcBef>
                <a:spcPts val="600"/>
              </a:spcBef>
            </a:pPr>
            <a:r>
              <a:rPr sz="1400">
                <a:solidFill>
                  <a:srgbClr val="172033"/>
                </a:solidFill>
                <a:latin typeface="Aptos"/>
              </a:rPr>
              <a:t>•  Core Research Question: How do different kernel mappings affect decision boundary geometry, generalization metrics, and support vector sparsity when faced with complex, overlapping crescent geometry?</a:t>
            </a:r>
          </a:p>
          <a:p>
            <a:pPr algn="l">
              <a:spcBef>
                <a:spcPts val="600"/>
              </a:spcBef>
            </a:pPr>
            <a:r>
              <a:rPr sz="1400">
                <a:solidFill>
                  <a:srgbClr val="172033"/>
                </a:solidFill>
                <a:latin typeface="Aptos"/>
              </a:rPr>
              <a:t>•  Key Engineering Questions Tested:</a:t>
            </a:r>
          </a:p>
          <a:p>
            <a:pPr algn="l">
              <a:spcBef>
                <a:spcPts val="600"/>
              </a:spcBef>
            </a:pPr>
            <a:r>
              <a:rPr sz="1200">
                <a:solidFill>
                  <a:srgbClr val="374151"/>
                </a:solidFill>
                <a:latin typeface="Aptos"/>
              </a:rPr>
              <a:t>    - 1. Can a linear boundary achieve acceptable performance on non-linear data?</a:t>
            </a:r>
          </a:p>
          <a:p>
            <a:pPr algn="l">
              <a:spcBef>
                <a:spcPts val="600"/>
              </a:spcBef>
            </a:pPr>
            <a:r>
              <a:rPr sz="1200">
                <a:solidFill>
                  <a:srgbClr val="374151"/>
                </a:solidFill>
                <a:latin typeface="Aptos"/>
              </a:rPr>
              <a:t>    - 2. Does a cubic polynomial provide sufficient curvature to capture crescent structures?</a:t>
            </a:r>
          </a:p>
          <a:p>
            <a:pPr algn="l">
              <a:spcBef>
                <a:spcPts val="600"/>
              </a:spcBef>
            </a:pPr>
            <a:r>
              <a:rPr sz="1200">
                <a:solidFill>
                  <a:srgbClr val="374151"/>
                </a:solidFill>
                <a:latin typeface="Aptos"/>
              </a:rPr>
              <a:t>    - 3. How much performance advantage does RBF yield, and what does it cost in support vector count?</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Strict Experimental Control Protocol</a:t>
            </a:r>
          </a:p>
        </p:txBody>
      </p:sp>
      <p:sp>
        <p:nvSpPr>
          <p:cNvPr id="12" name="Rectangle 11"/>
          <p:cNvSpPr/>
          <p:nvPr/>
        </p:nvSpPr>
        <p:spPr>
          <a:xfrm>
            <a:off x="6336792" y="1892808"/>
            <a:ext cx="5212080" cy="38404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6792" y="1892808"/>
            <a:ext cx="5212080"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029968"/>
            <a:ext cx="4663440" cy="274320"/>
          </a:xfrm>
          <a:prstGeom prst="rect">
            <a:avLst/>
          </a:prstGeom>
          <a:noFill/>
        </p:spPr>
        <p:txBody>
          <a:bodyPr wrap="square">
            <a:spAutoFit/>
          </a:bodyPr>
          <a:lstStyle/>
          <a:p>
            <a:pPr algn="l"/>
            <a:r>
              <a:rPr sz="1600" b="1" i="0">
                <a:solidFill>
                  <a:srgbClr val="172033"/>
                </a:solidFill>
                <a:latin typeface="Aptos"/>
              </a:rPr>
              <a:t>Rigorous Experimental Controls</a:t>
            </a:r>
          </a:p>
        </p:txBody>
      </p:sp>
      <p:sp>
        <p:nvSpPr>
          <p:cNvPr id="15" name="TextBox 14"/>
          <p:cNvSpPr txBox="1"/>
          <p:nvPr/>
        </p:nvSpPr>
        <p:spPr>
          <a:xfrm>
            <a:off x="6611112" y="2395728"/>
            <a:ext cx="4663440" cy="3108960"/>
          </a:xfrm>
          <a:prstGeom prst="rect">
            <a:avLst/>
          </a:prstGeom>
          <a:noFill/>
        </p:spPr>
        <p:txBody>
          <a:bodyPr wrap="square">
            <a:spAutoFit/>
          </a:bodyPr>
          <a:lstStyle/>
          <a:p>
            <a:pPr algn="l"/>
            <a:r>
              <a:rPr sz="1350">
                <a:solidFill>
                  <a:srgbClr val="172033"/>
                </a:solidFill>
                <a:latin typeface="Aptos"/>
              </a:rPr>
              <a:t>•  Identical Data: All models train and test on the exact same synthetic two-moons instances.</a:t>
            </a:r>
          </a:p>
          <a:p>
            <a:pPr algn="l">
              <a:spcBef>
                <a:spcPts val="500"/>
              </a:spcBef>
            </a:pPr>
            <a:r>
              <a:rPr sz="1350">
                <a:solidFill>
                  <a:srgbClr val="172033"/>
                </a:solidFill>
                <a:latin typeface="Aptos"/>
              </a:rPr>
              <a:t>•  Identical Split: 70% training (350 samples) and 30% testing (150 samples) using random_state=42.</a:t>
            </a:r>
          </a:p>
          <a:p>
            <a:pPr algn="l">
              <a:spcBef>
                <a:spcPts val="500"/>
              </a:spcBef>
            </a:pPr>
            <a:r>
              <a:rPr sz="1350">
                <a:solidFill>
                  <a:srgbClr val="172033"/>
                </a:solidFill>
                <a:latin typeface="Aptos"/>
              </a:rPr>
              <a:t>•  Zero Data Leakage: StandardScaler is fitted strictly on the training set and applied to the test set.</a:t>
            </a:r>
          </a:p>
          <a:p>
            <a:pPr algn="l">
              <a:spcBef>
                <a:spcPts val="500"/>
              </a:spcBef>
            </a:pPr>
            <a:r>
              <a:rPr sz="1350">
                <a:solidFill>
                  <a:srgbClr val="172033"/>
                </a:solidFill>
                <a:latin typeface="Aptos"/>
              </a:rPr>
              <a:t>•  Controlled Regularization: C = 1.0 across all three models.</a:t>
            </a:r>
          </a:p>
          <a:p>
            <a:pPr algn="l">
              <a:spcBef>
                <a:spcPts val="500"/>
              </a:spcBef>
            </a:pPr>
            <a:r>
              <a:rPr sz="1350">
                <a:solidFill>
                  <a:srgbClr val="172033"/>
                </a:solidFill>
                <a:latin typeface="Aptos"/>
              </a:rPr>
              <a:t>•  Standardized Gamma: gamma = 'scale' across models.</a:t>
            </a:r>
          </a:p>
          <a:p>
            <a:pPr algn="l">
              <a:spcBef>
                <a:spcPts val="500"/>
              </a:spcBef>
            </a:pPr>
            <a:r>
              <a:rPr sz="1350">
                <a:solidFill>
                  <a:srgbClr val="172033"/>
                </a:solidFill>
                <a:latin typeface="Aptos"/>
              </a:rPr>
              <a:t>•  Single Variable Isolated: The kernel function K(xᵢ, xⱼ) is the sole independent variable under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04 — EXPERIMENTAL PROJECT</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Dataset Specification: Synthetic Two-Moons</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13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Why the Two-Moons Benchmark?</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Dataset Generator: sklearn.datasets.make_moons</a:t>
            </a:r>
          </a:p>
          <a:p>
            <a:pPr algn="l">
              <a:spcBef>
                <a:spcPts val="600"/>
              </a:spcBef>
            </a:pPr>
            <a:r>
              <a:rPr sz="1400">
                <a:solidFill>
                  <a:srgbClr val="172033"/>
                </a:solidFill>
                <a:latin typeface="Aptos"/>
              </a:rPr>
              <a:t>•  Total Sample Count: N = 500 data points.</a:t>
            </a:r>
          </a:p>
          <a:p>
            <a:pPr algn="l">
              <a:spcBef>
                <a:spcPts val="600"/>
              </a:spcBef>
            </a:pPr>
            <a:r>
              <a:rPr sz="1400">
                <a:solidFill>
                  <a:srgbClr val="172033"/>
                </a:solidFill>
                <a:latin typeface="Aptos"/>
              </a:rPr>
              <a:t>•  Noise Level (σ = 0.25): Gaussian noise added to point coordinates. This causes the crescent cusps to intermingle, creating a realistic non-separable boundary.</a:t>
            </a:r>
          </a:p>
          <a:p>
            <a:pPr algn="l">
              <a:spcBef>
                <a:spcPts val="600"/>
              </a:spcBef>
            </a:pPr>
            <a:r>
              <a:rPr sz="1400">
                <a:solidFill>
                  <a:srgbClr val="172033"/>
                </a:solidFill>
                <a:latin typeface="Aptos"/>
              </a:rPr>
              <a:t>•  Class Balance: Exactly 250 samples in Class 0, 250 samples in Class 1 (50/50 balance eliminates class imbalance bias).</a:t>
            </a:r>
          </a:p>
          <a:p>
            <a:pPr algn="l">
              <a:spcBef>
                <a:spcPts val="600"/>
              </a:spcBef>
            </a:pPr>
            <a:r>
              <a:rPr sz="1400">
                <a:solidFill>
                  <a:srgbClr val="172033"/>
                </a:solidFill>
                <a:latin typeface="Aptos"/>
              </a:rPr>
              <a:t>•  Geometric Topology: Two interleaving half-circles. The top moon curves downward; the bottom moon curves upward.</a:t>
            </a:r>
          </a:p>
          <a:p>
            <a:pPr algn="l">
              <a:spcBef>
                <a:spcPts val="600"/>
              </a:spcBef>
            </a:pPr>
            <a:r>
              <a:rPr sz="1400">
                <a:solidFill>
                  <a:srgbClr val="172033"/>
                </a:solidFill>
                <a:latin typeface="Aptos"/>
              </a:rPr>
              <a:t>•  Why It Is Ideal: It represents a textbook non-linear manifold that is mathematically impossible to separate linearly without error.</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Data Partitioning &amp; Dimensional Properties</a:t>
            </a:r>
          </a:p>
        </p:txBody>
      </p:sp>
      <p:graphicFrame>
        <p:nvGraphicFramePr>
          <p:cNvPr id="12" name="Table 11"/>
          <p:cNvGraphicFramePr>
            <a:graphicFrameLocks noGrp="1"/>
          </p:cNvGraphicFramePr>
          <p:nvPr/>
        </p:nvGraphicFramePr>
        <p:xfrm>
          <a:off x="6336792" y="1892808"/>
          <a:ext cx="5212080" cy="3072384"/>
        </p:xfrm>
        <a:graphic>
          <a:graphicData uri="http://schemas.openxmlformats.org/drawingml/2006/table">
            <a:tbl>
              <a:tblPr firstRow="1" bandRow="1">
                <a:tableStyleId>{5C22544A-7EE6-4342-B048-85BDC9FD1C3A}</a:tableStyleId>
              </a:tblPr>
              <a:tblGrid>
                <a:gridCol w="1828800"/>
                <a:gridCol w="1645920"/>
                <a:gridCol w="1737360"/>
              </a:tblGrid>
              <a:tr h="438912">
                <a:tc>
                  <a:txBody>
                    <a:bodyPr wrap="square"/>
                    <a:lstStyle/>
                    <a:p>
                      <a:pPr algn="l"/>
                      <a:r>
                        <a:rPr sz="1250" b="1">
                          <a:solidFill>
                            <a:srgbClr val="FFFFFF"/>
                          </a:solidFill>
                          <a:latin typeface="Aptos"/>
                        </a:rPr>
                        <a:t>Dataset Property</a:t>
                      </a:r>
                    </a:p>
                  </a:txBody>
                  <a:tcPr>
                    <a:solidFill>
                      <a:srgbClr val="1E40AF"/>
                    </a:solidFill>
                  </a:tcPr>
                </a:tc>
                <a:tc>
                  <a:txBody>
                    <a:bodyPr wrap="square"/>
                    <a:lstStyle/>
                    <a:p>
                      <a:pPr algn="l"/>
                      <a:r>
                        <a:rPr sz="1250" b="1">
                          <a:solidFill>
                            <a:srgbClr val="FFFFFF"/>
                          </a:solidFill>
                          <a:latin typeface="Aptos"/>
                        </a:rPr>
                        <a:t>Experimental Value</a:t>
                      </a:r>
                    </a:p>
                  </a:txBody>
                  <a:tcPr>
                    <a:solidFill>
                      <a:srgbClr val="1E40AF"/>
                    </a:solidFill>
                  </a:tcPr>
                </a:tc>
                <a:tc>
                  <a:txBody>
                    <a:bodyPr wrap="square"/>
                    <a:lstStyle/>
                    <a:p>
                      <a:pPr algn="l"/>
                      <a:r>
                        <a:rPr sz="1250" b="1">
                          <a:solidFill>
                            <a:srgbClr val="FFFFFF"/>
                          </a:solidFill>
                          <a:latin typeface="Aptos"/>
                        </a:rPr>
                        <a:t>Significance</a:t>
                      </a:r>
                    </a:p>
                  </a:txBody>
                  <a:tcPr>
                    <a:solidFill>
                      <a:srgbClr val="1E40AF"/>
                    </a:solidFill>
                  </a:tcPr>
                </a:tc>
              </a:tr>
              <a:tr h="438912">
                <a:tc>
                  <a:txBody>
                    <a:bodyPr wrap="square"/>
                    <a:lstStyle/>
                    <a:p>
                      <a:pPr algn="l"/>
                      <a:r>
                        <a:rPr sz="1250" b="0">
                          <a:solidFill>
                            <a:srgbClr val="172033"/>
                          </a:solidFill>
                          <a:latin typeface="Aptos"/>
                        </a:rPr>
                        <a:t>Total Samples (N)</a:t>
                      </a:r>
                    </a:p>
                  </a:txBody>
                  <a:tcPr>
                    <a:solidFill>
                      <a:srgbClr val="FFFFFF"/>
                    </a:solidFill>
                  </a:tcPr>
                </a:tc>
                <a:tc>
                  <a:txBody>
                    <a:bodyPr wrap="square"/>
                    <a:lstStyle/>
                    <a:p>
                      <a:pPr algn="l"/>
                      <a:r>
                        <a:rPr sz="1250" b="0">
                          <a:solidFill>
                            <a:srgbClr val="172033"/>
                          </a:solidFill>
                          <a:latin typeface="Aptos"/>
                        </a:rPr>
                        <a:t>500</a:t>
                      </a:r>
                    </a:p>
                  </a:txBody>
                  <a:tcPr>
                    <a:solidFill>
                      <a:srgbClr val="FFFFFF"/>
                    </a:solidFill>
                  </a:tcPr>
                </a:tc>
                <a:tc>
                  <a:txBody>
                    <a:bodyPr wrap="square"/>
                    <a:lstStyle/>
                    <a:p>
                      <a:pPr algn="l"/>
                      <a:r>
                        <a:rPr sz="1250" b="0">
                          <a:solidFill>
                            <a:srgbClr val="172033"/>
                          </a:solidFill>
                          <a:latin typeface="Aptos"/>
                        </a:rPr>
                        <a:t>Adequate statistical power</a:t>
                      </a:r>
                    </a:p>
                  </a:txBody>
                  <a:tcPr>
                    <a:solidFill>
                      <a:srgbClr val="FFFFFF"/>
                    </a:solidFill>
                  </a:tcPr>
                </a:tc>
              </a:tr>
              <a:tr h="438912">
                <a:tc>
                  <a:txBody>
                    <a:bodyPr wrap="square"/>
                    <a:lstStyle/>
                    <a:p>
                      <a:pPr algn="l"/>
                      <a:r>
                        <a:rPr sz="1250" b="0">
                          <a:solidFill>
                            <a:srgbClr val="172033"/>
                          </a:solidFill>
                          <a:latin typeface="Aptos"/>
                        </a:rPr>
                        <a:t>Input Features (d)</a:t>
                      </a:r>
                    </a:p>
                  </a:txBody>
                  <a:tcPr>
                    <a:solidFill>
                      <a:srgbClr val="F8FAFC"/>
                    </a:solidFill>
                  </a:tcPr>
                </a:tc>
                <a:tc>
                  <a:txBody>
                    <a:bodyPr wrap="square"/>
                    <a:lstStyle/>
                    <a:p>
                      <a:pPr algn="l"/>
                      <a:r>
                        <a:rPr sz="1250" b="0">
                          <a:solidFill>
                            <a:srgbClr val="172033"/>
                          </a:solidFill>
                          <a:latin typeface="Aptos"/>
                        </a:rPr>
                        <a:t>2 (Feature 1, Feature 2)</a:t>
                      </a:r>
                    </a:p>
                  </a:txBody>
                  <a:tcPr>
                    <a:solidFill>
                      <a:srgbClr val="F8FAFC"/>
                    </a:solidFill>
                  </a:tcPr>
                </a:tc>
                <a:tc>
                  <a:txBody>
                    <a:bodyPr wrap="square"/>
                    <a:lstStyle/>
                    <a:p>
                      <a:pPr algn="l"/>
                      <a:r>
                        <a:rPr sz="1250" b="0">
                          <a:solidFill>
                            <a:srgbClr val="172033"/>
                          </a:solidFill>
                          <a:latin typeface="Aptos"/>
                        </a:rPr>
                        <a:t>Allows exact 2D boundary plotting</a:t>
                      </a:r>
                    </a:p>
                  </a:txBody>
                  <a:tcPr>
                    <a:solidFill>
                      <a:srgbClr val="F8FAFC"/>
                    </a:solidFill>
                  </a:tcPr>
                </a:tc>
              </a:tr>
              <a:tr h="438912">
                <a:tc>
                  <a:txBody>
                    <a:bodyPr wrap="square"/>
                    <a:lstStyle/>
                    <a:p>
                      <a:pPr algn="l"/>
                      <a:r>
                        <a:rPr sz="1250" b="0">
                          <a:solidFill>
                            <a:srgbClr val="172033"/>
                          </a:solidFill>
                          <a:latin typeface="Aptos"/>
                        </a:rPr>
                        <a:t>Noise Parameter</a:t>
                      </a:r>
                    </a:p>
                  </a:txBody>
                  <a:tcPr>
                    <a:solidFill>
                      <a:srgbClr val="FFFFFF"/>
                    </a:solidFill>
                  </a:tcPr>
                </a:tc>
                <a:tc>
                  <a:txBody>
                    <a:bodyPr wrap="square"/>
                    <a:lstStyle/>
                    <a:p>
                      <a:pPr algn="l"/>
                      <a:r>
                        <a:rPr sz="1250" b="0">
                          <a:solidFill>
                            <a:srgbClr val="172033"/>
                          </a:solidFill>
                          <a:latin typeface="Aptos"/>
                        </a:rPr>
                        <a:t>0.25</a:t>
                      </a:r>
                    </a:p>
                  </a:txBody>
                  <a:tcPr>
                    <a:solidFill>
                      <a:srgbClr val="FFFFFF"/>
                    </a:solidFill>
                  </a:tcPr>
                </a:tc>
                <a:tc>
                  <a:txBody>
                    <a:bodyPr wrap="square"/>
                    <a:lstStyle/>
                    <a:p>
                      <a:pPr algn="l"/>
                      <a:r>
                        <a:rPr sz="1250" b="0">
                          <a:solidFill>
                            <a:srgbClr val="172033"/>
                          </a:solidFill>
                          <a:latin typeface="Aptos"/>
                        </a:rPr>
                        <a:t>Introduces realistic overlap</a:t>
                      </a:r>
                    </a:p>
                  </a:txBody>
                  <a:tcPr>
                    <a:solidFill>
                      <a:srgbClr val="FFFFFF"/>
                    </a:solidFill>
                  </a:tcPr>
                </a:tc>
              </a:tr>
              <a:tr h="438912">
                <a:tc>
                  <a:txBody>
                    <a:bodyPr wrap="square"/>
                    <a:lstStyle/>
                    <a:p>
                      <a:pPr algn="l"/>
                      <a:r>
                        <a:rPr sz="1250" b="0">
                          <a:solidFill>
                            <a:srgbClr val="172033"/>
                          </a:solidFill>
                          <a:latin typeface="Aptos"/>
                        </a:rPr>
                        <a:t>Train Set Size</a:t>
                      </a:r>
                    </a:p>
                  </a:txBody>
                  <a:tcPr>
                    <a:solidFill>
                      <a:srgbClr val="F8FAFC"/>
                    </a:solidFill>
                  </a:tcPr>
                </a:tc>
                <a:tc>
                  <a:txBody>
                    <a:bodyPr wrap="square"/>
                    <a:lstStyle/>
                    <a:p>
                      <a:pPr algn="l"/>
                      <a:r>
                        <a:rPr sz="1250" b="0">
                          <a:solidFill>
                            <a:srgbClr val="172033"/>
                          </a:solidFill>
                          <a:latin typeface="Aptos"/>
                        </a:rPr>
                        <a:t>70% (350 samples)</a:t>
                      </a:r>
                    </a:p>
                  </a:txBody>
                  <a:tcPr>
                    <a:solidFill>
                      <a:srgbClr val="F8FAFC"/>
                    </a:solidFill>
                  </a:tcPr>
                </a:tc>
                <a:tc>
                  <a:txBody>
                    <a:bodyPr wrap="square"/>
                    <a:lstStyle/>
                    <a:p>
                      <a:pPr algn="l"/>
                      <a:r>
                        <a:rPr sz="1250" b="0">
                          <a:solidFill>
                            <a:srgbClr val="172033"/>
                          </a:solidFill>
                          <a:latin typeface="Aptos"/>
                        </a:rPr>
                        <a:t>Used for model fitting &amp; SV selection</a:t>
                      </a:r>
                    </a:p>
                  </a:txBody>
                  <a:tcPr>
                    <a:solidFill>
                      <a:srgbClr val="F8FAFC"/>
                    </a:solidFill>
                  </a:tcPr>
                </a:tc>
              </a:tr>
              <a:tr h="438912">
                <a:tc>
                  <a:txBody>
                    <a:bodyPr wrap="square"/>
                    <a:lstStyle/>
                    <a:p>
                      <a:pPr algn="l"/>
                      <a:r>
                        <a:rPr sz="1250" b="0">
                          <a:solidFill>
                            <a:srgbClr val="172033"/>
                          </a:solidFill>
                          <a:latin typeface="Aptos"/>
                        </a:rPr>
                        <a:t>Test Set Size</a:t>
                      </a:r>
                    </a:p>
                  </a:txBody>
                  <a:tcPr>
                    <a:solidFill>
                      <a:srgbClr val="FFFFFF"/>
                    </a:solidFill>
                  </a:tcPr>
                </a:tc>
                <a:tc>
                  <a:txBody>
                    <a:bodyPr wrap="square"/>
                    <a:lstStyle/>
                    <a:p>
                      <a:pPr algn="l"/>
                      <a:r>
                        <a:rPr sz="1250" b="0">
                          <a:solidFill>
                            <a:srgbClr val="172033"/>
                          </a:solidFill>
                          <a:latin typeface="Aptos"/>
                        </a:rPr>
                        <a:t>30% (150 samples)</a:t>
                      </a:r>
                    </a:p>
                  </a:txBody>
                  <a:tcPr>
                    <a:solidFill>
                      <a:srgbClr val="FFFFFF"/>
                    </a:solidFill>
                  </a:tcPr>
                </a:tc>
                <a:tc>
                  <a:txBody>
                    <a:bodyPr wrap="square"/>
                    <a:lstStyle/>
                    <a:p>
                      <a:pPr algn="l"/>
                      <a:r>
                        <a:rPr sz="1250" b="0">
                          <a:solidFill>
                            <a:srgbClr val="172033"/>
                          </a:solidFill>
                          <a:latin typeface="Aptos"/>
                        </a:rPr>
                        <a:t>Strictly held-out for metric evaluation</a:t>
                      </a:r>
                    </a:p>
                  </a:txBody>
                  <a:tcPr>
                    <a:solidFill>
                      <a:srgbClr val="FFFFFF"/>
                    </a:solidFill>
                  </a:tcPr>
                </a:tc>
              </a:tr>
              <a:tr h="438912">
                <a:tc>
                  <a:txBody>
                    <a:bodyPr wrap="square"/>
                    <a:lstStyle/>
                    <a:p>
                      <a:pPr algn="l"/>
                      <a:r>
                        <a:rPr sz="1250" b="0">
                          <a:solidFill>
                            <a:srgbClr val="172033"/>
                          </a:solidFill>
                          <a:latin typeface="Aptos"/>
                        </a:rPr>
                        <a:t>Random Seed</a:t>
                      </a:r>
                    </a:p>
                  </a:txBody>
                  <a:tcPr>
                    <a:solidFill>
                      <a:srgbClr val="F8FAFC"/>
                    </a:solidFill>
                  </a:tcPr>
                </a:tc>
                <a:tc>
                  <a:txBody>
                    <a:bodyPr wrap="square"/>
                    <a:lstStyle/>
                    <a:p>
                      <a:pPr algn="l"/>
                      <a:r>
                        <a:rPr sz="1250" b="0">
                          <a:solidFill>
                            <a:srgbClr val="172033"/>
                          </a:solidFill>
                          <a:latin typeface="Aptos"/>
                        </a:rPr>
                        <a:t>42</a:t>
                      </a:r>
                    </a:p>
                  </a:txBody>
                  <a:tcPr>
                    <a:solidFill>
                      <a:srgbClr val="F8FAFC"/>
                    </a:solidFill>
                  </a:tcPr>
                </a:tc>
                <a:tc>
                  <a:txBody>
                    <a:bodyPr wrap="square"/>
                    <a:lstStyle/>
                    <a:p>
                      <a:pPr algn="l"/>
                      <a:r>
                        <a:rPr sz="1250" b="0">
                          <a:solidFill>
                            <a:srgbClr val="172033"/>
                          </a:solidFill>
                          <a:latin typeface="Aptos"/>
                        </a:rPr>
                        <a:t>Ensures 100% exact reproducibility</a:t>
                      </a:r>
                    </a:p>
                  </a:txBody>
                  <a:tcPr>
                    <a:solidFill>
                      <a:srgbClr val="F8FA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04 — EXPERIMENTAL PROJECT</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Methodology &amp; Machine Learning Pipeline</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14 of 20</a:t>
            </a:r>
          </a:p>
        </p:txBody>
      </p:sp>
      <p:sp>
        <p:nvSpPr>
          <p:cNvPr id="9" name="TextBox 8"/>
          <p:cNvSpPr txBox="1"/>
          <p:nvPr/>
        </p:nvSpPr>
        <p:spPr>
          <a:xfrm>
            <a:off x="640080" y="1435608"/>
            <a:ext cx="10911535" cy="320040"/>
          </a:xfrm>
          <a:prstGeom prst="rect">
            <a:avLst/>
          </a:prstGeom>
          <a:noFill/>
        </p:spPr>
        <p:txBody>
          <a:bodyPr wrap="square">
            <a:spAutoFit/>
          </a:bodyPr>
          <a:lstStyle/>
          <a:p>
            <a:pPr algn="l"/>
            <a:r>
              <a:rPr sz="1500" b="0" i="1">
                <a:solidFill>
                  <a:srgbClr val="374151"/>
                </a:solidFill>
                <a:latin typeface="Aptos"/>
              </a:rPr>
              <a:t>End-to-end execution pipeline implemented in 01_svm_kernel_comparison.py:</a:t>
            </a:r>
          </a:p>
        </p:txBody>
      </p:sp>
      <p:sp>
        <p:nvSpPr>
          <p:cNvPr id="10" name="Rectangle 9"/>
          <p:cNvSpPr/>
          <p:nvPr/>
        </p:nvSpPr>
        <p:spPr>
          <a:xfrm>
            <a:off x="640080" y="1847088"/>
            <a:ext cx="2029968" cy="32918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47088"/>
            <a:ext cx="2029968"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84248"/>
            <a:ext cx="1755648" cy="228600"/>
          </a:xfrm>
          <a:prstGeom prst="rect">
            <a:avLst/>
          </a:prstGeom>
          <a:noFill/>
        </p:spPr>
        <p:txBody>
          <a:bodyPr wrap="square">
            <a:spAutoFit/>
          </a:bodyPr>
          <a:lstStyle/>
          <a:p>
            <a:pPr algn="l"/>
            <a:r>
              <a:rPr sz="1100" b="1" i="0">
                <a:solidFill>
                  <a:srgbClr val="2563EB"/>
                </a:solidFill>
                <a:latin typeface="Aptos"/>
              </a:rPr>
              <a:t>STAGE 1</a:t>
            </a:r>
          </a:p>
        </p:txBody>
      </p:sp>
      <p:sp>
        <p:nvSpPr>
          <p:cNvPr id="13" name="TextBox 12"/>
          <p:cNvSpPr txBox="1"/>
          <p:nvPr/>
        </p:nvSpPr>
        <p:spPr>
          <a:xfrm>
            <a:off x="777240" y="2258568"/>
            <a:ext cx="1755648" cy="502920"/>
          </a:xfrm>
          <a:prstGeom prst="rect">
            <a:avLst/>
          </a:prstGeom>
          <a:noFill/>
        </p:spPr>
        <p:txBody>
          <a:bodyPr wrap="square">
            <a:spAutoFit/>
          </a:bodyPr>
          <a:lstStyle/>
          <a:p>
            <a:pPr algn="l"/>
            <a:r>
              <a:rPr sz="1500" b="1" i="0">
                <a:solidFill>
                  <a:srgbClr val="172033"/>
                </a:solidFill>
                <a:latin typeface="Aptos"/>
              </a:rPr>
              <a:t>Data Synthesis</a:t>
            </a:r>
          </a:p>
        </p:txBody>
      </p:sp>
      <p:sp>
        <p:nvSpPr>
          <p:cNvPr id="14" name="Rectangle 13"/>
          <p:cNvSpPr/>
          <p:nvPr/>
        </p:nvSpPr>
        <p:spPr>
          <a:xfrm>
            <a:off x="777240" y="2807208"/>
            <a:ext cx="1755648" cy="13716"/>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944368"/>
            <a:ext cx="1755648" cy="2011680"/>
          </a:xfrm>
          <a:prstGeom prst="rect">
            <a:avLst/>
          </a:prstGeom>
          <a:noFill/>
        </p:spPr>
        <p:txBody>
          <a:bodyPr wrap="square">
            <a:spAutoFit/>
          </a:bodyPr>
          <a:lstStyle/>
          <a:p>
            <a:pPr algn="l"/>
            <a:r>
              <a:rPr sz="1250" b="0" i="0">
                <a:solidFill>
                  <a:srgbClr val="374151"/>
                </a:solidFill>
                <a:latin typeface="Aptos"/>
              </a:rPr>
              <a:t>Generate 500 make_moons samples with noise=0.25 and random_state=42. Perfectly balanced binary labels.</a:t>
            </a:r>
          </a:p>
        </p:txBody>
      </p:sp>
      <p:sp>
        <p:nvSpPr>
          <p:cNvPr id="16" name="Rectangle 15"/>
          <p:cNvSpPr/>
          <p:nvPr/>
        </p:nvSpPr>
        <p:spPr>
          <a:xfrm>
            <a:off x="2852928" y="1847088"/>
            <a:ext cx="2029968" cy="32918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52928" y="1847088"/>
            <a:ext cx="2029968"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90088" y="1984248"/>
            <a:ext cx="1755648" cy="228600"/>
          </a:xfrm>
          <a:prstGeom prst="rect">
            <a:avLst/>
          </a:prstGeom>
          <a:noFill/>
        </p:spPr>
        <p:txBody>
          <a:bodyPr wrap="square">
            <a:spAutoFit/>
          </a:bodyPr>
          <a:lstStyle/>
          <a:p>
            <a:pPr algn="l"/>
            <a:r>
              <a:rPr sz="1100" b="1" i="0">
                <a:solidFill>
                  <a:srgbClr val="2563EB"/>
                </a:solidFill>
                <a:latin typeface="Aptos"/>
              </a:rPr>
              <a:t>STAGE 2</a:t>
            </a:r>
          </a:p>
        </p:txBody>
      </p:sp>
      <p:sp>
        <p:nvSpPr>
          <p:cNvPr id="19" name="TextBox 18"/>
          <p:cNvSpPr txBox="1"/>
          <p:nvPr/>
        </p:nvSpPr>
        <p:spPr>
          <a:xfrm>
            <a:off x="2990088" y="2258568"/>
            <a:ext cx="1755648" cy="502920"/>
          </a:xfrm>
          <a:prstGeom prst="rect">
            <a:avLst/>
          </a:prstGeom>
          <a:noFill/>
        </p:spPr>
        <p:txBody>
          <a:bodyPr wrap="square">
            <a:spAutoFit/>
          </a:bodyPr>
          <a:lstStyle/>
          <a:p>
            <a:pPr algn="l"/>
            <a:r>
              <a:rPr sz="1500" b="1" i="0">
                <a:solidFill>
                  <a:srgbClr val="172033"/>
                </a:solidFill>
                <a:latin typeface="Aptos"/>
              </a:rPr>
              <a:t>Train/Test Split</a:t>
            </a:r>
          </a:p>
        </p:txBody>
      </p:sp>
      <p:sp>
        <p:nvSpPr>
          <p:cNvPr id="20" name="Rectangle 19"/>
          <p:cNvSpPr/>
          <p:nvPr/>
        </p:nvSpPr>
        <p:spPr>
          <a:xfrm>
            <a:off x="2990088" y="2807208"/>
            <a:ext cx="1755648" cy="13716"/>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90088" y="2944368"/>
            <a:ext cx="1755648" cy="2011680"/>
          </a:xfrm>
          <a:prstGeom prst="rect">
            <a:avLst/>
          </a:prstGeom>
          <a:noFill/>
        </p:spPr>
        <p:txBody>
          <a:bodyPr wrap="square">
            <a:spAutoFit/>
          </a:bodyPr>
          <a:lstStyle/>
          <a:p>
            <a:pPr algn="l"/>
            <a:r>
              <a:rPr sz="1250" b="0" i="0">
                <a:solidFill>
                  <a:srgbClr val="374151"/>
                </a:solidFill>
                <a:latin typeface="Aptos"/>
              </a:rPr>
              <a:t>Partition into 70% train (350) and 30% test (150). Fix random seed for exact split reproducibility.</a:t>
            </a:r>
          </a:p>
        </p:txBody>
      </p:sp>
      <p:sp>
        <p:nvSpPr>
          <p:cNvPr id="22" name="Rectangle 21"/>
          <p:cNvSpPr/>
          <p:nvPr/>
        </p:nvSpPr>
        <p:spPr>
          <a:xfrm>
            <a:off x="5065776" y="1847088"/>
            <a:ext cx="2029968" cy="32918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65776" y="1847088"/>
            <a:ext cx="2029968"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02936" y="1984248"/>
            <a:ext cx="1755648" cy="228600"/>
          </a:xfrm>
          <a:prstGeom prst="rect">
            <a:avLst/>
          </a:prstGeom>
          <a:noFill/>
        </p:spPr>
        <p:txBody>
          <a:bodyPr wrap="square">
            <a:spAutoFit/>
          </a:bodyPr>
          <a:lstStyle/>
          <a:p>
            <a:pPr algn="l"/>
            <a:r>
              <a:rPr sz="1100" b="1" i="0">
                <a:solidFill>
                  <a:srgbClr val="2563EB"/>
                </a:solidFill>
                <a:latin typeface="Aptos"/>
              </a:rPr>
              <a:t>STAGE 3</a:t>
            </a:r>
          </a:p>
        </p:txBody>
      </p:sp>
      <p:sp>
        <p:nvSpPr>
          <p:cNvPr id="25" name="TextBox 24"/>
          <p:cNvSpPr txBox="1"/>
          <p:nvPr/>
        </p:nvSpPr>
        <p:spPr>
          <a:xfrm>
            <a:off x="5202936" y="2258568"/>
            <a:ext cx="1755648" cy="502920"/>
          </a:xfrm>
          <a:prstGeom prst="rect">
            <a:avLst/>
          </a:prstGeom>
          <a:noFill/>
        </p:spPr>
        <p:txBody>
          <a:bodyPr wrap="square">
            <a:spAutoFit/>
          </a:bodyPr>
          <a:lstStyle/>
          <a:p>
            <a:pPr algn="l"/>
            <a:r>
              <a:rPr sz="1500" b="1" i="0">
                <a:solidFill>
                  <a:srgbClr val="172033"/>
                </a:solidFill>
                <a:latin typeface="Aptos"/>
              </a:rPr>
              <a:t>Feature Scaling</a:t>
            </a:r>
          </a:p>
        </p:txBody>
      </p:sp>
      <p:sp>
        <p:nvSpPr>
          <p:cNvPr id="26" name="Rectangle 25"/>
          <p:cNvSpPr/>
          <p:nvPr/>
        </p:nvSpPr>
        <p:spPr>
          <a:xfrm>
            <a:off x="5202936" y="2807208"/>
            <a:ext cx="1755648" cy="13716"/>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02936" y="2944368"/>
            <a:ext cx="1755648" cy="2011680"/>
          </a:xfrm>
          <a:prstGeom prst="rect">
            <a:avLst/>
          </a:prstGeom>
          <a:noFill/>
        </p:spPr>
        <p:txBody>
          <a:bodyPr wrap="square">
            <a:spAutoFit/>
          </a:bodyPr>
          <a:lstStyle/>
          <a:p>
            <a:pPr algn="l"/>
            <a:r>
              <a:rPr sz="1250" b="0" i="0">
                <a:solidFill>
                  <a:srgbClr val="374151"/>
                </a:solidFill>
                <a:latin typeface="Aptos"/>
              </a:rPr>
              <a:t>Fit StandardScaler on X_train only (μ=0, σ=1). Transform X_test. Prevents test data leakage.</a:t>
            </a:r>
          </a:p>
        </p:txBody>
      </p:sp>
      <p:sp>
        <p:nvSpPr>
          <p:cNvPr id="28" name="Rectangle 27"/>
          <p:cNvSpPr/>
          <p:nvPr/>
        </p:nvSpPr>
        <p:spPr>
          <a:xfrm>
            <a:off x="7278624" y="1847088"/>
            <a:ext cx="2029968" cy="32918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78624" y="1847088"/>
            <a:ext cx="2029968"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15784" y="1984248"/>
            <a:ext cx="1755648" cy="228600"/>
          </a:xfrm>
          <a:prstGeom prst="rect">
            <a:avLst/>
          </a:prstGeom>
          <a:noFill/>
        </p:spPr>
        <p:txBody>
          <a:bodyPr wrap="square">
            <a:spAutoFit/>
          </a:bodyPr>
          <a:lstStyle/>
          <a:p>
            <a:pPr algn="l"/>
            <a:r>
              <a:rPr sz="1100" b="1" i="0">
                <a:solidFill>
                  <a:srgbClr val="2563EB"/>
                </a:solidFill>
                <a:latin typeface="Aptos"/>
              </a:rPr>
              <a:t>STAGE 4</a:t>
            </a:r>
          </a:p>
        </p:txBody>
      </p:sp>
      <p:sp>
        <p:nvSpPr>
          <p:cNvPr id="31" name="TextBox 30"/>
          <p:cNvSpPr txBox="1"/>
          <p:nvPr/>
        </p:nvSpPr>
        <p:spPr>
          <a:xfrm>
            <a:off x="7415784" y="2258568"/>
            <a:ext cx="1755648" cy="502920"/>
          </a:xfrm>
          <a:prstGeom prst="rect">
            <a:avLst/>
          </a:prstGeom>
          <a:noFill/>
        </p:spPr>
        <p:txBody>
          <a:bodyPr wrap="square">
            <a:spAutoFit/>
          </a:bodyPr>
          <a:lstStyle/>
          <a:p>
            <a:pPr algn="l"/>
            <a:r>
              <a:rPr sz="1500" b="1" i="0">
                <a:solidFill>
                  <a:srgbClr val="172033"/>
                </a:solidFill>
                <a:latin typeface="Aptos"/>
              </a:rPr>
              <a:t>Model Fitting</a:t>
            </a:r>
          </a:p>
        </p:txBody>
      </p:sp>
      <p:sp>
        <p:nvSpPr>
          <p:cNvPr id="32" name="Rectangle 31"/>
          <p:cNvSpPr/>
          <p:nvPr/>
        </p:nvSpPr>
        <p:spPr>
          <a:xfrm>
            <a:off x="7415784" y="2807208"/>
            <a:ext cx="1755648" cy="13716"/>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15784" y="2944368"/>
            <a:ext cx="1755648" cy="2011680"/>
          </a:xfrm>
          <a:prstGeom prst="rect">
            <a:avLst/>
          </a:prstGeom>
          <a:noFill/>
        </p:spPr>
        <p:txBody>
          <a:bodyPr wrap="square">
            <a:spAutoFit/>
          </a:bodyPr>
          <a:lstStyle/>
          <a:p>
            <a:pPr algn="l"/>
            <a:r>
              <a:rPr sz="1250" b="0" i="0">
                <a:solidFill>
                  <a:srgbClr val="374151"/>
                </a:solidFill>
                <a:latin typeface="Aptos"/>
              </a:rPr>
              <a:t>Instantiate 3 SVC models (Linear, Poly d=3, RBF) with C=1.0, γ='scale'. Fit on X_train_scaled.</a:t>
            </a:r>
          </a:p>
        </p:txBody>
      </p:sp>
      <p:sp>
        <p:nvSpPr>
          <p:cNvPr id="34" name="Rectangle 33"/>
          <p:cNvSpPr/>
          <p:nvPr/>
        </p:nvSpPr>
        <p:spPr>
          <a:xfrm>
            <a:off x="9491472" y="1847088"/>
            <a:ext cx="2029968" cy="32918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91472" y="1847088"/>
            <a:ext cx="2029968"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28632" y="1984248"/>
            <a:ext cx="1755648" cy="228600"/>
          </a:xfrm>
          <a:prstGeom prst="rect">
            <a:avLst/>
          </a:prstGeom>
          <a:noFill/>
        </p:spPr>
        <p:txBody>
          <a:bodyPr wrap="square">
            <a:spAutoFit/>
          </a:bodyPr>
          <a:lstStyle/>
          <a:p>
            <a:pPr algn="l"/>
            <a:r>
              <a:rPr sz="1100" b="1" i="0">
                <a:solidFill>
                  <a:srgbClr val="2563EB"/>
                </a:solidFill>
                <a:latin typeface="Aptos"/>
              </a:rPr>
              <a:t>STAGE 5</a:t>
            </a:r>
          </a:p>
        </p:txBody>
      </p:sp>
      <p:sp>
        <p:nvSpPr>
          <p:cNvPr id="37" name="TextBox 36"/>
          <p:cNvSpPr txBox="1"/>
          <p:nvPr/>
        </p:nvSpPr>
        <p:spPr>
          <a:xfrm>
            <a:off x="9628632" y="2258568"/>
            <a:ext cx="1755648" cy="502920"/>
          </a:xfrm>
          <a:prstGeom prst="rect">
            <a:avLst/>
          </a:prstGeom>
          <a:noFill/>
        </p:spPr>
        <p:txBody>
          <a:bodyPr wrap="square">
            <a:spAutoFit/>
          </a:bodyPr>
          <a:lstStyle/>
          <a:p>
            <a:pPr algn="l"/>
            <a:r>
              <a:rPr sz="1500" b="1" i="0">
                <a:solidFill>
                  <a:srgbClr val="172033"/>
                </a:solidFill>
                <a:latin typeface="Aptos"/>
              </a:rPr>
              <a:t>Evaluation</a:t>
            </a:r>
          </a:p>
        </p:txBody>
      </p:sp>
      <p:sp>
        <p:nvSpPr>
          <p:cNvPr id="38" name="Rectangle 37"/>
          <p:cNvSpPr/>
          <p:nvPr/>
        </p:nvSpPr>
        <p:spPr>
          <a:xfrm>
            <a:off x="9628632" y="2807208"/>
            <a:ext cx="1755648" cy="13716"/>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28632" y="2944368"/>
            <a:ext cx="1755648" cy="2011680"/>
          </a:xfrm>
          <a:prstGeom prst="rect">
            <a:avLst/>
          </a:prstGeom>
          <a:noFill/>
        </p:spPr>
        <p:txBody>
          <a:bodyPr wrap="square">
            <a:spAutoFit/>
          </a:bodyPr>
          <a:lstStyle/>
          <a:p>
            <a:pPr algn="l"/>
            <a:r>
              <a:rPr sz="1250" b="0" i="0">
                <a:solidFill>
                  <a:srgbClr val="374151"/>
                </a:solidFill>
                <a:latin typeface="Aptos"/>
              </a:rPr>
              <a:t>Predict on X_test_scaled. Compute Accuracy, Precision, Recall, F1, SV counts, and plot 2D mesh grids.</a:t>
            </a:r>
          </a:p>
        </p:txBody>
      </p:sp>
      <p:sp>
        <p:nvSpPr>
          <p:cNvPr id="40" name="Rectangle 39"/>
          <p:cNvSpPr/>
          <p:nvPr/>
        </p:nvSpPr>
        <p:spPr>
          <a:xfrm>
            <a:off x="640080" y="5321808"/>
            <a:ext cx="10911535" cy="64008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367527"/>
            <a:ext cx="10545775" cy="548640"/>
          </a:xfrm>
          <a:prstGeom prst="rect">
            <a:avLst/>
          </a:prstGeom>
          <a:noFill/>
        </p:spPr>
        <p:txBody>
          <a:bodyPr wrap="square">
            <a:spAutoFit/>
          </a:bodyPr>
          <a:lstStyle/>
          <a:p>
            <a:pPr algn="l"/>
            <a:r>
              <a:rPr sz="1200" b="1" i="0">
                <a:solidFill>
                  <a:srgbClr val="1E40AF"/>
                </a:solidFill>
                <a:latin typeface="Aptos"/>
              </a:rPr>
              <a:t>CRITICAL METHODOLOGICAL DETAIL: StandardScaler MUST be fitted strictly on X_train, never on the full dataset before splitting. Fitting on the entire dataset leaks test-set distribution statistics (μ and σ) into training, artificially inflating performance.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04 — EXPERIMENTAL PROJECT</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Experimental Configuration Table</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15 of 20</a:t>
            </a:r>
          </a:p>
        </p:txBody>
      </p:sp>
      <p:sp>
        <p:nvSpPr>
          <p:cNvPr id="9" name="TextBox 8"/>
          <p:cNvSpPr txBox="1"/>
          <p:nvPr/>
        </p:nvSpPr>
        <p:spPr>
          <a:xfrm>
            <a:off x="640080" y="1435608"/>
            <a:ext cx="10911535" cy="320040"/>
          </a:xfrm>
          <a:prstGeom prst="rect">
            <a:avLst/>
          </a:prstGeom>
          <a:noFill/>
        </p:spPr>
        <p:txBody>
          <a:bodyPr wrap="square">
            <a:spAutoFit/>
          </a:bodyPr>
          <a:lstStyle/>
          <a:p>
            <a:pPr algn="l"/>
            <a:r>
              <a:rPr sz="1500" b="0" i="1">
                <a:solidFill>
                  <a:srgbClr val="374151"/>
                </a:solidFill>
                <a:latin typeface="Aptos"/>
              </a:rPr>
              <a:t>Complete specification of environment, dataset parameters, preprocessing, and model hyperparameters.</a:t>
            </a:r>
          </a:p>
        </p:txBody>
      </p:sp>
      <p:graphicFrame>
        <p:nvGraphicFramePr>
          <p:cNvPr id="10" name="Table 9"/>
          <p:cNvGraphicFramePr>
            <a:graphicFrameLocks noGrp="1"/>
          </p:cNvGraphicFramePr>
          <p:nvPr/>
        </p:nvGraphicFramePr>
        <p:xfrm>
          <a:off x="640080" y="1801368"/>
          <a:ext cx="10911535" cy="4023360"/>
        </p:xfrm>
        <a:graphic>
          <a:graphicData uri="http://schemas.openxmlformats.org/drawingml/2006/table">
            <a:tbl>
              <a:tblPr firstRow="1" bandRow="1">
                <a:tableStyleId>{5C22544A-7EE6-4342-B048-85BDC9FD1C3A}</a:tableStyleId>
              </a:tblPr>
              <a:tblGrid>
                <a:gridCol w="1645920"/>
                <a:gridCol w="2011680"/>
                <a:gridCol w="3474720"/>
                <a:gridCol w="3779215"/>
              </a:tblGrid>
              <a:tr h="402336">
                <a:tc>
                  <a:txBody>
                    <a:bodyPr wrap="square"/>
                    <a:lstStyle/>
                    <a:p>
                      <a:pPr algn="l"/>
                      <a:r>
                        <a:rPr sz="1200" b="1">
                          <a:solidFill>
                            <a:srgbClr val="FFFFFF"/>
                          </a:solidFill>
                          <a:latin typeface="Aptos"/>
                        </a:rPr>
                        <a:t>Component</a:t>
                      </a:r>
                    </a:p>
                  </a:txBody>
                  <a:tcPr>
                    <a:solidFill>
                      <a:srgbClr val="1E40AF"/>
                    </a:solidFill>
                  </a:tcPr>
                </a:tc>
                <a:tc>
                  <a:txBody>
                    <a:bodyPr wrap="square"/>
                    <a:lstStyle/>
                    <a:p>
                      <a:pPr algn="l"/>
                      <a:r>
                        <a:rPr sz="1200" b="1">
                          <a:solidFill>
                            <a:srgbClr val="FFFFFF"/>
                          </a:solidFill>
                          <a:latin typeface="Aptos"/>
                        </a:rPr>
                        <a:t>Parameter Name</a:t>
                      </a:r>
                    </a:p>
                  </a:txBody>
                  <a:tcPr>
                    <a:solidFill>
                      <a:srgbClr val="1E40AF"/>
                    </a:solidFill>
                  </a:tcPr>
                </a:tc>
                <a:tc>
                  <a:txBody>
                    <a:bodyPr wrap="square"/>
                    <a:lstStyle/>
                    <a:p>
                      <a:pPr algn="l"/>
                      <a:r>
                        <a:rPr sz="1200" b="1">
                          <a:solidFill>
                            <a:srgbClr val="FFFFFF"/>
                          </a:solidFill>
                          <a:latin typeface="Aptos"/>
                        </a:rPr>
                        <a:t>Value / Setting</a:t>
                      </a:r>
                    </a:p>
                  </a:txBody>
                  <a:tcPr>
                    <a:solidFill>
                      <a:srgbClr val="1E40AF"/>
                    </a:solidFill>
                  </a:tcPr>
                </a:tc>
                <a:tc>
                  <a:txBody>
                    <a:bodyPr wrap="square"/>
                    <a:lstStyle/>
                    <a:p>
                      <a:pPr algn="l"/>
                      <a:r>
                        <a:rPr sz="1200" b="1">
                          <a:solidFill>
                            <a:srgbClr val="FFFFFF"/>
                          </a:solidFill>
                          <a:latin typeface="Aptos"/>
                        </a:rPr>
                        <a:t>Engineering Justification</a:t>
                      </a:r>
                    </a:p>
                  </a:txBody>
                  <a:tcPr>
                    <a:solidFill>
                      <a:srgbClr val="1E40AF"/>
                    </a:solidFill>
                  </a:tcPr>
                </a:tc>
              </a:tr>
              <a:tr h="402336">
                <a:tc>
                  <a:txBody>
                    <a:bodyPr wrap="square"/>
                    <a:lstStyle/>
                    <a:p>
                      <a:pPr algn="l"/>
                      <a:r>
                        <a:rPr sz="1200" b="0">
                          <a:solidFill>
                            <a:srgbClr val="172033"/>
                          </a:solidFill>
                          <a:latin typeface="Aptos"/>
                        </a:rPr>
                        <a:t>Dataset</a:t>
                      </a:r>
                    </a:p>
                  </a:txBody>
                  <a:tcPr>
                    <a:solidFill>
                      <a:srgbClr val="FFFFFF"/>
                    </a:solidFill>
                  </a:tcPr>
                </a:tc>
                <a:tc>
                  <a:txBody>
                    <a:bodyPr wrap="square"/>
                    <a:lstStyle/>
                    <a:p>
                      <a:pPr algn="l"/>
                      <a:r>
                        <a:rPr sz="1200" b="0">
                          <a:solidFill>
                            <a:srgbClr val="172033"/>
                          </a:solidFill>
                          <a:latin typeface="Aptos"/>
                        </a:rPr>
                        <a:t>Generator</a:t>
                      </a:r>
                    </a:p>
                  </a:txBody>
                  <a:tcPr>
                    <a:solidFill>
                      <a:srgbClr val="FFFFFF"/>
                    </a:solidFill>
                  </a:tcPr>
                </a:tc>
                <a:tc>
                  <a:txBody>
                    <a:bodyPr wrap="square"/>
                    <a:lstStyle/>
                    <a:p>
                      <a:pPr algn="l"/>
                      <a:r>
                        <a:rPr sz="1200" b="0">
                          <a:solidFill>
                            <a:srgbClr val="172033"/>
                          </a:solidFill>
                          <a:latin typeface="Aptos"/>
                        </a:rPr>
                        <a:t>sklearn.datasets.make_moons</a:t>
                      </a:r>
                    </a:p>
                  </a:txBody>
                  <a:tcPr>
                    <a:solidFill>
                      <a:srgbClr val="FFFFFF"/>
                    </a:solidFill>
                  </a:tcPr>
                </a:tc>
                <a:tc>
                  <a:txBody>
                    <a:bodyPr wrap="square"/>
                    <a:lstStyle/>
                    <a:p>
                      <a:pPr algn="l"/>
                      <a:r>
                        <a:rPr sz="1200" b="0">
                          <a:solidFill>
                            <a:srgbClr val="172033"/>
                          </a:solidFill>
                          <a:latin typeface="Aptos"/>
                        </a:rPr>
                        <a:t>Standard non-linear benchmark with interlocking geometry</a:t>
                      </a:r>
                    </a:p>
                  </a:txBody>
                  <a:tcPr>
                    <a:solidFill>
                      <a:srgbClr val="FFFFFF"/>
                    </a:solidFill>
                  </a:tcPr>
                </a:tc>
              </a:tr>
              <a:tr h="402336">
                <a:tc>
                  <a:txBody>
                    <a:bodyPr wrap="square"/>
                    <a:lstStyle/>
                    <a:p>
                      <a:pPr algn="l"/>
                      <a:r>
                        <a:rPr sz="1200" b="0">
                          <a:solidFill>
                            <a:srgbClr val="172033"/>
                          </a:solidFill>
                          <a:latin typeface="Aptos"/>
                        </a:rPr>
                        <a:t>Dataset</a:t>
                      </a:r>
                    </a:p>
                  </a:txBody>
                  <a:tcPr>
                    <a:solidFill>
                      <a:srgbClr val="F8FAFC"/>
                    </a:solidFill>
                  </a:tcPr>
                </a:tc>
                <a:tc>
                  <a:txBody>
                    <a:bodyPr wrap="square"/>
                    <a:lstStyle/>
                    <a:p>
                      <a:pPr algn="l"/>
                      <a:r>
                        <a:rPr sz="1200" b="0">
                          <a:solidFill>
                            <a:srgbClr val="172033"/>
                          </a:solidFill>
                          <a:latin typeface="Aptos"/>
                        </a:rPr>
                        <a:t>Sample Count (N)</a:t>
                      </a:r>
                    </a:p>
                  </a:txBody>
                  <a:tcPr>
                    <a:solidFill>
                      <a:srgbClr val="F8FAFC"/>
                    </a:solidFill>
                  </a:tcPr>
                </a:tc>
                <a:tc>
                  <a:txBody>
                    <a:bodyPr wrap="square"/>
                    <a:lstStyle/>
                    <a:p>
                      <a:pPr algn="l"/>
                      <a:r>
                        <a:rPr sz="1200" b="0">
                          <a:solidFill>
                            <a:srgbClr val="172033"/>
                          </a:solidFill>
                          <a:latin typeface="Aptos"/>
                        </a:rPr>
                        <a:t>500 total (350 train, 150 test)</a:t>
                      </a:r>
                    </a:p>
                  </a:txBody>
                  <a:tcPr>
                    <a:solidFill>
                      <a:srgbClr val="F8FAFC"/>
                    </a:solidFill>
                  </a:tcPr>
                </a:tc>
                <a:tc>
                  <a:txBody>
                    <a:bodyPr wrap="square"/>
                    <a:lstStyle/>
                    <a:p>
                      <a:pPr algn="l"/>
                      <a:r>
                        <a:rPr sz="1200" b="0">
                          <a:solidFill>
                            <a:srgbClr val="172033"/>
                          </a:solidFill>
                          <a:latin typeface="Aptos"/>
                        </a:rPr>
                        <a:t>Provides statistically reliable sample size while keeping runtime fast</a:t>
                      </a:r>
                    </a:p>
                  </a:txBody>
                  <a:tcPr>
                    <a:solidFill>
                      <a:srgbClr val="F8FAFC"/>
                    </a:solidFill>
                  </a:tcPr>
                </a:tc>
              </a:tr>
              <a:tr h="402336">
                <a:tc>
                  <a:txBody>
                    <a:bodyPr wrap="square"/>
                    <a:lstStyle/>
                    <a:p>
                      <a:pPr algn="l"/>
                      <a:r>
                        <a:rPr sz="1200" b="0">
                          <a:solidFill>
                            <a:srgbClr val="172033"/>
                          </a:solidFill>
                          <a:latin typeface="Aptos"/>
                        </a:rPr>
                        <a:t>Dataset</a:t>
                      </a:r>
                    </a:p>
                  </a:txBody>
                  <a:tcPr>
                    <a:solidFill>
                      <a:srgbClr val="FFFFFF"/>
                    </a:solidFill>
                  </a:tcPr>
                </a:tc>
                <a:tc>
                  <a:txBody>
                    <a:bodyPr wrap="square"/>
                    <a:lstStyle/>
                    <a:p>
                      <a:pPr algn="l"/>
                      <a:r>
                        <a:rPr sz="1200" b="0">
                          <a:solidFill>
                            <a:srgbClr val="172033"/>
                          </a:solidFill>
                          <a:latin typeface="Aptos"/>
                        </a:rPr>
                        <a:t>Noise Level (σ)</a:t>
                      </a:r>
                    </a:p>
                  </a:txBody>
                  <a:tcPr>
                    <a:solidFill>
                      <a:srgbClr val="FFFFFF"/>
                    </a:solidFill>
                  </a:tcPr>
                </a:tc>
                <a:tc>
                  <a:txBody>
                    <a:bodyPr wrap="square"/>
                    <a:lstStyle/>
                    <a:p>
                      <a:pPr algn="l"/>
                      <a:r>
                        <a:rPr sz="1200" b="0">
                          <a:solidFill>
                            <a:srgbClr val="172033"/>
                          </a:solidFill>
                          <a:latin typeface="Aptos"/>
                        </a:rPr>
                        <a:t>0.25</a:t>
                      </a:r>
                    </a:p>
                  </a:txBody>
                  <a:tcPr>
                    <a:solidFill>
                      <a:srgbClr val="FFFFFF"/>
                    </a:solidFill>
                  </a:tcPr>
                </a:tc>
                <a:tc>
                  <a:txBody>
                    <a:bodyPr wrap="square"/>
                    <a:lstStyle/>
                    <a:p>
                      <a:pPr algn="l"/>
                      <a:r>
                        <a:rPr sz="1200" b="0">
                          <a:solidFill>
                            <a:srgbClr val="172033"/>
                          </a:solidFill>
                          <a:latin typeface="Aptos"/>
                        </a:rPr>
                        <a:t>Forces realistic overlap between classes at boundary cusps</a:t>
                      </a:r>
                    </a:p>
                  </a:txBody>
                  <a:tcPr>
                    <a:solidFill>
                      <a:srgbClr val="FFFFFF"/>
                    </a:solidFill>
                  </a:tcPr>
                </a:tc>
              </a:tr>
              <a:tr h="402336">
                <a:tc>
                  <a:txBody>
                    <a:bodyPr wrap="square"/>
                    <a:lstStyle/>
                    <a:p>
                      <a:pPr algn="l"/>
                      <a:r>
                        <a:rPr sz="1200" b="0">
                          <a:solidFill>
                            <a:srgbClr val="172033"/>
                          </a:solidFill>
                          <a:latin typeface="Aptos"/>
                        </a:rPr>
                        <a:t>Dataset</a:t>
                      </a:r>
                    </a:p>
                  </a:txBody>
                  <a:tcPr>
                    <a:solidFill>
                      <a:srgbClr val="F8FAFC"/>
                    </a:solidFill>
                  </a:tcPr>
                </a:tc>
                <a:tc>
                  <a:txBody>
                    <a:bodyPr wrap="square"/>
                    <a:lstStyle/>
                    <a:p>
                      <a:pPr algn="l"/>
                      <a:r>
                        <a:rPr sz="1200" b="0">
                          <a:solidFill>
                            <a:srgbClr val="172033"/>
                          </a:solidFill>
                          <a:latin typeface="Aptos"/>
                        </a:rPr>
                        <a:t>Random State</a:t>
                      </a:r>
                    </a:p>
                  </a:txBody>
                  <a:tcPr>
                    <a:solidFill>
                      <a:srgbClr val="F8FAFC"/>
                    </a:solidFill>
                  </a:tcPr>
                </a:tc>
                <a:tc>
                  <a:txBody>
                    <a:bodyPr wrap="square"/>
                    <a:lstStyle/>
                    <a:p>
                      <a:pPr algn="l"/>
                      <a:r>
                        <a:rPr sz="1200" b="0">
                          <a:solidFill>
                            <a:srgbClr val="172033"/>
                          </a:solidFill>
                          <a:latin typeface="Aptos"/>
                        </a:rPr>
                        <a:t>42</a:t>
                      </a:r>
                    </a:p>
                  </a:txBody>
                  <a:tcPr>
                    <a:solidFill>
                      <a:srgbClr val="F8FAFC"/>
                    </a:solidFill>
                  </a:tcPr>
                </a:tc>
                <a:tc>
                  <a:txBody>
                    <a:bodyPr wrap="square"/>
                    <a:lstStyle/>
                    <a:p>
                      <a:pPr algn="l"/>
                      <a:r>
                        <a:rPr sz="1200" b="0">
                          <a:solidFill>
                            <a:srgbClr val="172033"/>
                          </a:solidFill>
                          <a:latin typeface="Aptos"/>
                        </a:rPr>
                        <a:t>Ensures 100% identical data reproduction across runs</a:t>
                      </a:r>
                    </a:p>
                  </a:txBody>
                  <a:tcPr>
                    <a:solidFill>
                      <a:srgbClr val="F8FAFC"/>
                    </a:solidFill>
                  </a:tcPr>
                </a:tc>
              </a:tr>
              <a:tr h="402336">
                <a:tc>
                  <a:txBody>
                    <a:bodyPr wrap="square"/>
                    <a:lstStyle/>
                    <a:p>
                      <a:pPr algn="l"/>
                      <a:r>
                        <a:rPr sz="1200" b="0">
                          <a:solidFill>
                            <a:srgbClr val="172033"/>
                          </a:solidFill>
                          <a:latin typeface="Aptos"/>
                        </a:rPr>
                        <a:t>Preprocessing</a:t>
                      </a:r>
                    </a:p>
                  </a:txBody>
                  <a:tcPr>
                    <a:solidFill>
                      <a:srgbClr val="FFFFFF"/>
                    </a:solidFill>
                  </a:tcPr>
                </a:tc>
                <a:tc>
                  <a:txBody>
                    <a:bodyPr wrap="square"/>
                    <a:lstStyle/>
                    <a:p>
                      <a:pPr algn="l"/>
                      <a:r>
                        <a:rPr sz="1200" b="0">
                          <a:solidFill>
                            <a:srgbClr val="172033"/>
                          </a:solidFill>
                          <a:latin typeface="Aptos"/>
                        </a:rPr>
                        <a:t>Feature Scaler</a:t>
                      </a:r>
                    </a:p>
                  </a:txBody>
                  <a:tcPr>
                    <a:solidFill>
                      <a:srgbClr val="FFFFFF"/>
                    </a:solidFill>
                  </a:tcPr>
                </a:tc>
                <a:tc>
                  <a:txBody>
                    <a:bodyPr wrap="square"/>
                    <a:lstStyle/>
                    <a:p>
                      <a:pPr algn="l"/>
                      <a:r>
                        <a:rPr sz="1200" b="0">
                          <a:solidFill>
                            <a:srgbClr val="172033"/>
                          </a:solidFill>
                          <a:latin typeface="Aptos"/>
                        </a:rPr>
                        <a:t>StandardScaler (zero mean, unit var)</a:t>
                      </a:r>
                    </a:p>
                  </a:txBody>
                  <a:tcPr>
                    <a:solidFill>
                      <a:srgbClr val="FFFFFF"/>
                    </a:solidFill>
                  </a:tcPr>
                </a:tc>
                <a:tc>
                  <a:txBody>
                    <a:bodyPr wrap="square"/>
                    <a:lstStyle/>
                    <a:p>
                      <a:pPr algn="l"/>
                      <a:r>
                        <a:rPr sz="1200" b="0">
                          <a:solidFill>
                            <a:srgbClr val="172033"/>
                          </a:solidFill>
                          <a:latin typeface="Aptos"/>
                        </a:rPr>
                        <a:t>Standardizes feature variance for unbiased Euclidean distance</a:t>
                      </a:r>
                    </a:p>
                  </a:txBody>
                  <a:tcPr>
                    <a:solidFill>
                      <a:srgbClr val="FFFFFF"/>
                    </a:solidFill>
                  </a:tcPr>
                </a:tc>
              </a:tr>
              <a:tr h="402336">
                <a:tc>
                  <a:txBody>
                    <a:bodyPr wrap="square"/>
                    <a:lstStyle/>
                    <a:p>
                      <a:pPr algn="l"/>
                      <a:r>
                        <a:rPr sz="1200" b="0">
                          <a:solidFill>
                            <a:srgbClr val="172033"/>
                          </a:solidFill>
                          <a:latin typeface="Aptos"/>
                        </a:rPr>
                        <a:t>Model 1</a:t>
                      </a:r>
                    </a:p>
                  </a:txBody>
                  <a:tcPr>
                    <a:solidFill>
                      <a:srgbClr val="F8FAFC"/>
                    </a:solidFill>
                  </a:tcPr>
                </a:tc>
                <a:tc>
                  <a:txBody>
                    <a:bodyPr wrap="square"/>
                    <a:lstStyle/>
                    <a:p>
                      <a:pPr algn="l"/>
                      <a:r>
                        <a:rPr sz="1200" b="0">
                          <a:solidFill>
                            <a:srgbClr val="172033"/>
                          </a:solidFill>
                          <a:latin typeface="Aptos"/>
                        </a:rPr>
                        <a:t>Linear Kernel</a:t>
                      </a:r>
                    </a:p>
                  </a:txBody>
                  <a:tcPr>
                    <a:solidFill>
                      <a:srgbClr val="F8FAFC"/>
                    </a:solidFill>
                  </a:tcPr>
                </a:tc>
                <a:tc>
                  <a:txBody>
                    <a:bodyPr wrap="square"/>
                    <a:lstStyle/>
                    <a:p>
                      <a:pPr algn="l"/>
                      <a:r>
                        <a:rPr sz="1200" b="0">
                          <a:solidFill>
                            <a:srgbClr val="172033"/>
                          </a:solidFill>
                          <a:latin typeface="Aptos"/>
                        </a:rPr>
                        <a:t>kernel='linear', C=1.0</a:t>
                      </a:r>
                    </a:p>
                  </a:txBody>
                  <a:tcPr>
                    <a:solidFill>
                      <a:srgbClr val="F8FAFC"/>
                    </a:solidFill>
                  </a:tcPr>
                </a:tc>
                <a:tc>
                  <a:txBody>
                    <a:bodyPr wrap="square"/>
                    <a:lstStyle/>
                    <a:p>
                      <a:pPr algn="l"/>
                      <a:r>
                        <a:rPr sz="1200" b="0">
                          <a:solidFill>
                            <a:srgbClr val="172033"/>
                          </a:solidFill>
                          <a:latin typeface="Aptos"/>
                        </a:rPr>
                        <a:t>Baseline linear classifier; flat decision boundary</a:t>
                      </a:r>
                    </a:p>
                  </a:txBody>
                  <a:tcPr>
                    <a:solidFill>
                      <a:srgbClr val="F8FAFC"/>
                    </a:solidFill>
                  </a:tcPr>
                </a:tc>
              </a:tr>
              <a:tr h="402336">
                <a:tc>
                  <a:txBody>
                    <a:bodyPr wrap="square"/>
                    <a:lstStyle/>
                    <a:p>
                      <a:pPr algn="l"/>
                      <a:r>
                        <a:rPr sz="1200" b="0">
                          <a:solidFill>
                            <a:srgbClr val="172033"/>
                          </a:solidFill>
                          <a:latin typeface="Aptos"/>
                        </a:rPr>
                        <a:t>Model 2</a:t>
                      </a:r>
                    </a:p>
                  </a:txBody>
                  <a:tcPr>
                    <a:solidFill>
                      <a:srgbClr val="FFFFFF"/>
                    </a:solidFill>
                  </a:tcPr>
                </a:tc>
                <a:tc>
                  <a:txBody>
                    <a:bodyPr wrap="square"/>
                    <a:lstStyle/>
                    <a:p>
                      <a:pPr algn="l"/>
                      <a:r>
                        <a:rPr sz="1200" b="0">
                          <a:solidFill>
                            <a:srgbClr val="172033"/>
                          </a:solidFill>
                          <a:latin typeface="Aptos"/>
                        </a:rPr>
                        <a:t>Polynomial Kernel</a:t>
                      </a:r>
                    </a:p>
                  </a:txBody>
                  <a:tcPr>
                    <a:solidFill>
                      <a:srgbClr val="FFFFFF"/>
                    </a:solidFill>
                  </a:tcPr>
                </a:tc>
                <a:tc>
                  <a:txBody>
                    <a:bodyPr wrap="square"/>
                    <a:lstStyle/>
                    <a:p>
                      <a:pPr algn="l"/>
                      <a:r>
                        <a:rPr sz="1200" b="0">
                          <a:solidFill>
                            <a:srgbClr val="172033"/>
                          </a:solidFill>
                          <a:latin typeface="Aptos"/>
                        </a:rPr>
                        <a:t>kernel='poly', degree=3, C=1.0, γ='scale'</a:t>
                      </a:r>
                    </a:p>
                  </a:txBody>
                  <a:tcPr>
                    <a:solidFill>
                      <a:srgbClr val="FFFFFF"/>
                    </a:solidFill>
                  </a:tcPr>
                </a:tc>
                <a:tc>
                  <a:txBody>
                    <a:bodyPr wrap="square"/>
                    <a:lstStyle/>
                    <a:p>
                      <a:pPr algn="l"/>
                      <a:r>
                        <a:rPr sz="1200" b="0">
                          <a:solidFill>
                            <a:srgbClr val="172033"/>
                          </a:solidFill>
                          <a:latin typeface="Aptos"/>
                        </a:rPr>
                        <a:t>Cubic polynomial feature expansion; tests structured curvature</a:t>
                      </a:r>
                    </a:p>
                  </a:txBody>
                  <a:tcPr>
                    <a:solidFill>
                      <a:srgbClr val="FFFFFF"/>
                    </a:solidFill>
                  </a:tcPr>
                </a:tc>
              </a:tr>
              <a:tr h="402336">
                <a:tc>
                  <a:txBody>
                    <a:bodyPr wrap="square"/>
                    <a:lstStyle/>
                    <a:p>
                      <a:pPr algn="l"/>
                      <a:r>
                        <a:rPr sz="1200" b="0">
                          <a:solidFill>
                            <a:srgbClr val="172033"/>
                          </a:solidFill>
                          <a:latin typeface="Aptos"/>
                        </a:rPr>
                        <a:t>Model 3</a:t>
                      </a:r>
                    </a:p>
                  </a:txBody>
                  <a:tcPr>
                    <a:solidFill>
                      <a:srgbClr val="F8FAFC"/>
                    </a:solidFill>
                  </a:tcPr>
                </a:tc>
                <a:tc>
                  <a:txBody>
                    <a:bodyPr wrap="square"/>
                    <a:lstStyle/>
                    <a:p>
                      <a:pPr algn="l"/>
                      <a:r>
                        <a:rPr sz="1200" b="0">
                          <a:solidFill>
                            <a:srgbClr val="172033"/>
                          </a:solidFill>
                          <a:latin typeface="Aptos"/>
                        </a:rPr>
                        <a:t>RBF Kernel</a:t>
                      </a:r>
                    </a:p>
                  </a:txBody>
                  <a:tcPr>
                    <a:solidFill>
                      <a:srgbClr val="F8FAFC"/>
                    </a:solidFill>
                  </a:tcPr>
                </a:tc>
                <a:tc>
                  <a:txBody>
                    <a:bodyPr wrap="square"/>
                    <a:lstStyle/>
                    <a:p>
                      <a:pPr algn="l"/>
                      <a:r>
                        <a:rPr sz="1200" b="0">
                          <a:solidFill>
                            <a:srgbClr val="172033"/>
                          </a:solidFill>
                          <a:latin typeface="Aptos"/>
                        </a:rPr>
                        <a:t>kernel='rbf', C=1.0, γ='scale'</a:t>
                      </a:r>
                    </a:p>
                  </a:txBody>
                  <a:tcPr>
                    <a:solidFill>
                      <a:srgbClr val="F8FAFC"/>
                    </a:solidFill>
                  </a:tcPr>
                </a:tc>
                <a:tc>
                  <a:txBody>
                    <a:bodyPr wrap="square"/>
                    <a:lstStyle/>
                    <a:p>
                      <a:pPr algn="l"/>
                      <a:r>
                        <a:rPr sz="1200" b="0">
                          <a:solidFill>
                            <a:srgbClr val="172033"/>
                          </a:solidFill>
                          <a:latin typeface="Aptos"/>
                        </a:rPr>
                        <a:t>Localized Gaussian kernel; tests infinite-D radial distance mapping</a:t>
                      </a:r>
                    </a:p>
                  </a:txBody>
                  <a:tcPr>
                    <a:solidFill>
                      <a:srgbClr val="F8FAFC"/>
                    </a:solidFill>
                  </a:tcPr>
                </a:tc>
              </a:tr>
              <a:tr h="402336">
                <a:tc>
                  <a:txBody>
                    <a:bodyPr wrap="square"/>
                    <a:lstStyle/>
                    <a:p>
                      <a:pPr algn="l"/>
                      <a:r>
                        <a:rPr sz="1200" b="0">
                          <a:solidFill>
                            <a:srgbClr val="172033"/>
                          </a:solidFill>
                          <a:latin typeface="Aptos"/>
                        </a:rPr>
                        <a:t>Software</a:t>
                      </a:r>
                    </a:p>
                  </a:txBody>
                  <a:tcPr>
                    <a:solidFill>
                      <a:srgbClr val="FFFFFF"/>
                    </a:solidFill>
                  </a:tcPr>
                </a:tc>
                <a:tc>
                  <a:txBody>
                    <a:bodyPr wrap="square"/>
                    <a:lstStyle/>
                    <a:p>
                      <a:pPr algn="l"/>
                      <a:r>
                        <a:rPr sz="1200" b="0">
                          <a:solidFill>
                            <a:srgbClr val="172033"/>
                          </a:solidFill>
                          <a:latin typeface="Aptos"/>
                        </a:rPr>
                        <a:t>Libraries</a:t>
                      </a:r>
                    </a:p>
                  </a:txBody>
                  <a:tcPr>
                    <a:solidFill>
                      <a:srgbClr val="FFFFFF"/>
                    </a:solidFill>
                  </a:tcPr>
                </a:tc>
                <a:tc>
                  <a:txBody>
                    <a:bodyPr wrap="square"/>
                    <a:lstStyle/>
                    <a:p>
                      <a:pPr algn="l"/>
                      <a:r>
                        <a:rPr sz="1200" b="0">
                          <a:solidFill>
                            <a:srgbClr val="172033"/>
                          </a:solidFill>
                          <a:latin typeface="Aptos"/>
                        </a:rPr>
                        <a:t>Python 3.13, scikit-learn 1.6, matplotlib</a:t>
                      </a:r>
                    </a:p>
                  </a:txBody>
                  <a:tcPr>
                    <a:solidFill>
                      <a:srgbClr val="FFFFFF"/>
                    </a:solidFill>
                  </a:tcPr>
                </a:tc>
                <a:tc>
                  <a:txBody>
                    <a:bodyPr wrap="square"/>
                    <a:lstStyle/>
                    <a:p>
                      <a:pPr algn="l"/>
                      <a:r>
                        <a:rPr sz="1200" b="0">
                          <a:solidFill>
                            <a:srgbClr val="172033"/>
                          </a:solidFill>
                          <a:latin typeface="Aptos"/>
                        </a:rPr>
                        <a:t>Modern, industry-standard scientific computing stack</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05 — RESULTS &amp; ANALYSIS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Empirical Results: Decision Boundary Comparison</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16 of 20</a:t>
            </a:r>
          </a:p>
        </p:txBody>
      </p:sp>
      <p:pic>
        <p:nvPicPr>
          <p:cNvPr id="9" name="Picture 8" descr="svm_decision_boundaries.png"/>
          <p:cNvPicPr>
            <a:picLocks noChangeAspect="1"/>
          </p:cNvPicPr>
          <p:nvPr/>
        </p:nvPicPr>
        <p:blipFill>
          <a:blip r:embed="rId2"/>
          <a:stretch>
            <a:fillRect/>
          </a:stretch>
        </p:blipFill>
        <p:spPr>
          <a:xfrm>
            <a:off x="640080" y="1435608"/>
            <a:ext cx="10911535" cy="3337560"/>
          </a:xfrm>
          <a:prstGeom prst="rect">
            <a:avLst/>
          </a:prstGeom>
        </p:spPr>
      </p:pic>
      <p:sp>
        <p:nvSpPr>
          <p:cNvPr id="10" name="Rectangle 9"/>
          <p:cNvSpPr/>
          <p:nvPr/>
        </p:nvSpPr>
        <p:spPr>
          <a:xfrm>
            <a:off x="640080" y="4864608"/>
            <a:ext cx="3456432" cy="1234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864608"/>
            <a:ext cx="3456432" cy="274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937760"/>
            <a:ext cx="3236976" cy="219456"/>
          </a:xfrm>
          <a:prstGeom prst="rect">
            <a:avLst/>
          </a:prstGeom>
          <a:noFill/>
        </p:spPr>
        <p:txBody>
          <a:bodyPr wrap="square">
            <a:spAutoFit/>
          </a:bodyPr>
          <a:lstStyle/>
          <a:p>
            <a:pPr algn="l"/>
            <a:r>
              <a:rPr sz="1350" b="1" i="0">
                <a:solidFill>
                  <a:srgbClr val="172033"/>
                </a:solidFill>
                <a:latin typeface="Aptos"/>
              </a:rPr>
              <a:t>Linear Kernel Boundary</a:t>
            </a:r>
          </a:p>
        </p:txBody>
      </p:sp>
      <p:sp>
        <p:nvSpPr>
          <p:cNvPr id="13" name="TextBox 12"/>
          <p:cNvSpPr txBox="1"/>
          <p:nvPr/>
        </p:nvSpPr>
        <p:spPr>
          <a:xfrm>
            <a:off x="749808" y="5157216"/>
            <a:ext cx="3236976" cy="201168"/>
          </a:xfrm>
          <a:prstGeom prst="rect">
            <a:avLst/>
          </a:prstGeom>
          <a:noFill/>
        </p:spPr>
        <p:txBody>
          <a:bodyPr wrap="square">
            <a:spAutoFit/>
          </a:bodyPr>
          <a:lstStyle/>
          <a:p>
            <a:pPr algn="l"/>
            <a:r>
              <a:rPr sz="1200" b="1" i="0">
                <a:solidFill>
                  <a:srgbClr val="2563EB"/>
                </a:solidFill>
                <a:latin typeface="Courier New"/>
              </a:rPr>
              <a:t>Acc: 85.3% | F1: 0.851 | 117 SVs</a:t>
            </a:r>
          </a:p>
        </p:txBody>
      </p:sp>
      <p:sp>
        <p:nvSpPr>
          <p:cNvPr id="14" name="TextBox 13"/>
          <p:cNvSpPr txBox="1"/>
          <p:nvPr/>
        </p:nvSpPr>
        <p:spPr>
          <a:xfrm>
            <a:off x="749808" y="5358384"/>
            <a:ext cx="3236976" cy="685800"/>
          </a:xfrm>
          <a:prstGeom prst="rect">
            <a:avLst/>
          </a:prstGeom>
          <a:noFill/>
        </p:spPr>
        <p:txBody>
          <a:bodyPr wrap="square">
            <a:spAutoFit/>
          </a:bodyPr>
          <a:lstStyle/>
          <a:p>
            <a:pPr algn="l"/>
            <a:r>
              <a:rPr sz="1100" b="0" i="0">
                <a:solidFill>
                  <a:srgbClr val="374151"/>
                </a:solidFill>
                <a:latin typeface="Aptos"/>
              </a:rPr>
              <a:t>Underfitting the geometry. A straight dashed diagonal boundary cuts arbitrarily across both crescents. Points near the cusp overlap are severely misclassified.</a:t>
            </a:r>
          </a:p>
        </p:txBody>
      </p:sp>
      <p:sp>
        <p:nvSpPr>
          <p:cNvPr id="15" name="Rectangle 14"/>
          <p:cNvSpPr/>
          <p:nvPr/>
        </p:nvSpPr>
        <p:spPr>
          <a:xfrm>
            <a:off x="4361688" y="4864608"/>
            <a:ext cx="3456432" cy="1234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4864608"/>
            <a:ext cx="3456432" cy="274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4937760"/>
            <a:ext cx="3236976" cy="219456"/>
          </a:xfrm>
          <a:prstGeom prst="rect">
            <a:avLst/>
          </a:prstGeom>
          <a:noFill/>
        </p:spPr>
        <p:txBody>
          <a:bodyPr wrap="square">
            <a:spAutoFit/>
          </a:bodyPr>
          <a:lstStyle/>
          <a:p>
            <a:pPr algn="l"/>
            <a:r>
              <a:rPr sz="1350" b="1" i="0">
                <a:solidFill>
                  <a:srgbClr val="172033"/>
                </a:solidFill>
                <a:latin typeface="Aptos"/>
              </a:rPr>
              <a:t>Polynomial (d=3) Boundary</a:t>
            </a:r>
          </a:p>
        </p:txBody>
      </p:sp>
      <p:sp>
        <p:nvSpPr>
          <p:cNvPr id="18" name="TextBox 17"/>
          <p:cNvSpPr txBox="1"/>
          <p:nvPr/>
        </p:nvSpPr>
        <p:spPr>
          <a:xfrm>
            <a:off x="4471416" y="5157216"/>
            <a:ext cx="3236976" cy="201168"/>
          </a:xfrm>
          <a:prstGeom prst="rect">
            <a:avLst/>
          </a:prstGeom>
          <a:noFill/>
        </p:spPr>
        <p:txBody>
          <a:bodyPr wrap="square">
            <a:spAutoFit/>
          </a:bodyPr>
          <a:lstStyle/>
          <a:p>
            <a:pPr algn="l"/>
            <a:r>
              <a:rPr sz="1200" b="1" i="0">
                <a:solidFill>
                  <a:srgbClr val="2563EB"/>
                </a:solidFill>
                <a:latin typeface="Courier New"/>
              </a:rPr>
              <a:t>Acc: 87.3% | F1: 0.865 | 118 SVs</a:t>
            </a:r>
          </a:p>
        </p:txBody>
      </p:sp>
      <p:sp>
        <p:nvSpPr>
          <p:cNvPr id="19" name="TextBox 18"/>
          <p:cNvSpPr txBox="1"/>
          <p:nvPr/>
        </p:nvSpPr>
        <p:spPr>
          <a:xfrm>
            <a:off x="4471416" y="5358384"/>
            <a:ext cx="3236976" cy="685800"/>
          </a:xfrm>
          <a:prstGeom prst="rect">
            <a:avLst/>
          </a:prstGeom>
          <a:noFill/>
        </p:spPr>
        <p:txBody>
          <a:bodyPr wrap="square">
            <a:spAutoFit/>
          </a:bodyPr>
          <a:lstStyle/>
          <a:p>
            <a:pPr algn="l"/>
            <a:r>
              <a:rPr sz="1100" b="0" i="0">
                <a:solidFill>
                  <a:srgbClr val="374151"/>
                </a:solidFill>
                <a:latin typeface="Aptos"/>
              </a:rPr>
              <a:t>Captures partial curvature. Exhibits smooth cubic inflection, attempting to bend with the crescent. However, it cannot bend sharply enough and cuts across the lower moon.</a:t>
            </a:r>
          </a:p>
        </p:txBody>
      </p:sp>
      <p:sp>
        <p:nvSpPr>
          <p:cNvPr id="20" name="Rectangle 19"/>
          <p:cNvSpPr/>
          <p:nvPr/>
        </p:nvSpPr>
        <p:spPr>
          <a:xfrm>
            <a:off x="8083296" y="4864608"/>
            <a:ext cx="3456432" cy="1234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3296" y="4864608"/>
            <a:ext cx="3456432" cy="274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4" y="4937760"/>
            <a:ext cx="3236976" cy="219456"/>
          </a:xfrm>
          <a:prstGeom prst="rect">
            <a:avLst/>
          </a:prstGeom>
          <a:noFill/>
        </p:spPr>
        <p:txBody>
          <a:bodyPr wrap="square">
            <a:spAutoFit/>
          </a:bodyPr>
          <a:lstStyle/>
          <a:p>
            <a:pPr algn="l"/>
            <a:r>
              <a:rPr sz="1350" b="1" i="0">
                <a:solidFill>
                  <a:srgbClr val="172033"/>
                </a:solidFill>
                <a:latin typeface="Aptos"/>
              </a:rPr>
              <a:t>RBF (Gaussian) Boundary</a:t>
            </a:r>
          </a:p>
        </p:txBody>
      </p:sp>
      <p:sp>
        <p:nvSpPr>
          <p:cNvPr id="23" name="TextBox 22"/>
          <p:cNvSpPr txBox="1"/>
          <p:nvPr/>
        </p:nvSpPr>
        <p:spPr>
          <a:xfrm>
            <a:off x="8193024" y="5157216"/>
            <a:ext cx="3236976" cy="201168"/>
          </a:xfrm>
          <a:prstGeom prst="rect">
            <a:avLst/>
          </a:prstGeom>
          <a:noFill/>
        </p:spPr>
        <p:txBody>
          <a:bodyPr wrap="square">
            <a:spAutoFit/>
          </a:bodyPr>
          <a:lstStyle/>
          <a:p>
            <a:pPr algn="l"/>
            <a:r>
              <a:rPr sz="1200" b="1" i="0">
                <a:solidFill>
                  <a:srgbClr val="2563EB"/>
                </a:solidFill>
                <a:latin typeface="Courier New"/>
              </a:rPr>
              <a:t>Acc: 94.7% | F1: 0.944 | 95 SVs</a:t>
            </a:r>
          </a:p>
        </p:txBody>
      </p:sp>
      <p:sp>
        <p:nvSpPr>
          <p:cNvPr id="24" name="TextBox 23"/>
          <p:cNvSpPr txBox="1"/>
          <p:nvPr/>
        </p:nvSpPr>
        <p:spPr>
          <a:xfrm>
            <a:off x="8193024" y="5358384"/>
            <a:ext cx="3236976" cy="685800"/>
          </a:xfrm>
          <a:prstGeom prst="rect">
            <a:avLst/>
          </a:prstGeom>
          <a:noFill/>
        </p:spPr>
        <p:txBody>
          <a:bodyPr wrap="square">
            <a:spAutoFit/>
          </a:bodyPr>
          <a:lstStyle/>
          <a:p>
            <a:pPr algn="l"/>
            <a:r>
              <a:rPr sz="1100" b="0" i="0">
                <a:solidFill>
                  <a:srgbClr val="374151"/>
                </a:solidFill>
                <a:latin typeface="Aptos"/>
              </a:rPr>
              <a:t>Optimal manifold fit. Creates a smooth, organic boundary that weaves between both crescents. Achieves highest accuracy while needing the fewest support vectors (95).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05 — RESULTS &amp; ANALYSIS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Quantitative Performance Evaluation</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17 of 20</a:t>
            </a:r>
          </a:p>
        </p:txBody>
      </p:sp>
      <p:sp>
        <p:nvSpPr>
          <p:cNvPr id="9" name="TextBox 8"/>
          <p:cNvSpPr txBox="1"/>
          <p:nvPr/>
        </p:nvSpPr>
        <p:spPr>
          <a:xfrm>
            <a:off x="640080" y="1435608"/>
            <a:ext cx="10911535" cy="320040"/>
          </a:xfrm>
          <a:prstGeom prst="rect">
            <a:avLst/>
          </a:prstGeom>
          <a:noFill/>
        </p:spPr>
        <p:txBody>
          <a:bodyPr wrap="square">
            <a:spAutoFit/>
          </a:bodyPr>
          <a:lstStyle/>
          <a:p>
            <a:pPr algn="l"/>
            <a:r>
              <a:rPr sz="1500" b="0" i="1">
                <a:solidFill>
                  <a:srgbClr val="374151"/>
                </a:solidFill>
                <a:latin typeface="Aptos"/>
              </a:rPr>
              <a:t>Exact experimental metrics computed on held-out test set (n=150) from outputs/svm/svm_results.txt:</a:t>
            </a:r>
          </a:p>
        </p:txBody>
      </p:sp>
      <p:graphicFrame>
        <p:nvGraphicFramePr>
          <p:cNvPr id="10" name="Table 9"/>
          <p:cNvGraphicFramePr>
            <a:graphicFrameLocks noGrp="1"/>
          </p:cNvGraphicFramePr>
          <p:nvPr/>
        </p:nvGraphicFramePr>
        <p:xfrm>
          <a:off x="640080" y="1828800"/>
          <a:ext cx="10911535" cy="2121408"/>
        </p:xfrm>
        <a:graphic>
          <a:graphicData uri="http://schemas.openxmlformats.org/drawingml/2006/table">
            <a:tbl>
              <a:tblPr firstRow="1" bandRow="1">
                <a:tableStyleId>{5C22544A-7EE6-4342-B048-85BDC9FD1C3A}</a:tableStyleId>
              </a:tblPr>
              <a:tblGrid>
                <a:gridCol w="2286000"/>
                <a:gridCol w="1371600"/>
                <a:gridCol w="1371600"/>
                <a:gridCol w="1371600"/>
                <a:gridCol w="1371600"/>
                <a:gridCol w="1463040"/>
                <a:gridCol w="1676095"/>
              </a:tblGrid>
              <a:tr h="530352">
                <a:tc>
                  <a:txBody>
                    <a:bodyPr wrap="square"/>
                    <a:lstStyle/>
                    <a:p>
                      <a:pPr algn="l"/>
                      <a:r>
                        <a:rPr sz="1400" b="1">
                          <a:solidFill>
                            <a:srgbClr val="FFFFFF"/>
                          </a:solidFill>
                          <a:latin typeface="Aptos"/>
                        </a:rPr>
                        <a:t>Kernel Function</a:t>
                      </a:r>
                    </a:p>
                  </a:txBody>
                  <a:tcPr>
                    <a:solidFill>
                      <a:srgbClr val="1E40AF"/>
                    </a:solidFill>
                  </a:tcPr>
                </a:tc>
                <a:tc>
                  <a:txBody>
                    <a:bodyPr wrap="square"/>
                    <a:lstStyle/>
                    <a:p>
                      <a:pPr algn="l"/>
                      <a:r>
                        <a:rPr sz="1400" b="1">
                          <a:solidFill>
                            <a:srgbClr val="FFFFFF"/>
                          </a:solidFill>
                          <a:latin typeface="Aptos"/>
                        </a:rPr>
                        <a:t>Test Accuracy</a:t>
                      </a:r>
                    </a:p>
                  </a:txBody>
                  <a:tcPr>
                    <a:solidFill>
                      <a:srgbClr val="1E40AF"/>
                    </a:solidFill>
                  </a:tcPr>
                </a:tc>
                <a:tc>
                  <a:txBody>
                    <a:bodyPr wrap="square"/>
                    <a:lstStyle/>
                    <a:p>
                      <a:pPr algn="l"/>
                      <a:r>
                        <a:rPr sz="1400" b="1">
                          <a:solidFill>
                            <a:srgbClr val="FFFFFF"/>
                          </a:solidFill>
                          <a:latin typeface="Aptos"/>
                        </a:rPr>
                        <a:t>Precision</a:t>
                      </a:r>
                    </a:p>
                  </a:txBody>
                  <a:tcPr>
                    <a:solidFill>
                      <a:srgbClr val="1E40AF"/>
                    </a:solidFill>
                  </a:tcPr>
                </a:tc>
                <a:tc>
                  <a:txBody>
                    <a:bodyPr wrap="square"/>
                    <a:lstStyle/>
                    <a:p>
                      <a:pPr algn="l"/>
                      <a:r>
                        <a:rPr sz="1400" b="1">
                          <a:solidFill>
                            <a:srgbClr val="FFFFFF"/>
                          </a:solidFill>
                          <a:latin typeface="Aptos"/>
                        </a:rPr>
                        <a:t>Recall</a:t>
                      </a:r>
                    </a:p>
                  </a:txBody>
                  <a:tcPr>
                    <a:solidFill>
                      <a:srgbClr val="1E40AF"/>
                    </a:solidFill>
                  </a:tcPr>
                </a:tc>
                <a:tc>
                  <a:txBody>
                    <a:bodyPr wrap="square"/>
                    <a:lstStyle/>
                    <a:p>
                      <a:pPr algn="l"/>
                      <a:r>
                        <a:rPr sz="1400" b="1">
                          <a:solidFill>
                            <a:srgbClr val="FFFFFF"/>
                          </a:solidFill>
                          <a:latin typeface="Aptos"/>
                        </a:rPr>
                        <a:t>F1 Score</a:t>
                      </a:r>
                    </a:p>
                  </a:txBody>
                  <a:tcPr>
                    <a:solidFill>
                      <a:srgbClr val="1E40AF"/>
                    </a:solidFill>
                  </a:tcPr>
                </a:tc>
                <a:tc>
                  <a:txBody>
                    <a:bodyPr wrap="square"/>
                    <a:lstStyle/>
                    <a:p>
                      <a:pPr algn="l"/>
                      <a:r>
                        <a:rPr sz="1400" b="1">
                          <a:solidFill>
                            <a:srgbClr val="FFFFFF"/>
                          </a:solidFill>
                          <a:latin typeface="Aptos"/>
                        </a:rPr>
                        <a:t>Support Vectors</a:t>
                      </a:r>
                    </a:p>
                  </a:txBody>
                  <a:tcPr>
                    <a:solidFill>
                      <a:srgbClr val="1E40AF"/>
                    </a:solidFill>
                  </a:tcPr>
                </a:tc>
                <a:tc>
                  <a:txBody>
                    <a:bodyPr wrap="square"/>
                    <a:lstStyle/>
                    <a:p>
                      <a:pPr algn="l"/>
                      <a:r>
                        <a:rPr sz="1400" b="1">
                          <a:solidFill>
                            <a:srgbClr val="FFFFFF"/>
                          </a:solidFill>
                          <a:latin typeface="Aptos"/>
                        </a:rPr>
                        <a:t>SV Ratio (% of Train)</a:t>
                      </a:r>
                    </a:p>
                  </a:txBody>
                  <a:tcPr>
                    <a:solidFill>
                      <a:srgbClr val="1E40AF"/>
                    </a:solidFill>
                  </a:tcPr>
                </a:tc>
              </a:tr>
              <a:tr h="530352">
                <a:tc>
                  <a:txBody>
                    <a:bodyPr wrap="square"/>
                    <a:lstStyle/>
                    <a:p>
                      <a:pPr algn="l"/>
                      <a:r>
                        <a:rPr sz="1400" b="0">
                          <a:solidFill>
                            <a:srgbClr val="172033"/>
                          </a:solidFill>
                          <a:latin typeface="Aptos"/>
                        </a:rPr>
                        <a:t>Linear</a:t>
                      </a:r>
                    </a:p>
                  </a:txBody>
                  <a:tcPr>
                    <a:solidFill>
                      <a:srgbClr val="FFFFFF"/>
                    </a:solidFill>
                  </a:tcPr>
                </a:tc>
                <a:tc>
                  <a:txBody>
                    <a:bodyPr wrap="square"/>
                    <a:lstStyle/>
                    <a:p>
                      <a:pPr algn="l"/>
                      <a:r>
                        <a:rPr sz="1400" b="0">
                          <a:solidFill>
                            <a:srgbClr val="172033"/>
                          </a:solidFill>
                          <a:latin typeface="Aptos"/>
                        </a:rPr>
                        <a:t>0.8533</a:t>
                      </a:r>
                    </a:p>
                  </a:txBody>
                  <a:tcPr>
                    <a:solidFill>
                      <a:srgbClr val="FFFFFF"/>
                    </a:solidFill>
                  </a:tcPr>
                </a:tc>
                <a:tc>
                  <a:txBody>
                    <a:bodyPr wrap="square"/>
                    <a:lstStyle/>
                    <a:p>
                      <a:pPr algn="l"/>
                      <a:r>
                        <a:rPr sz="1400" b="0">
                          <a:solidFill>
                            <a:srgbClr val="172033"/>
                          </a:solidFill>
                          <a:latin typeface="Aptos"/>
                        </a:rPr>
                        <a:t>0.8630</a:t>
                      </a:r>
                    </a:p>
                  </a:txBody>
                  <a:tcPr>
                    <a:solidFill>
                      <a:srgbClr val="FFFFFF"/>
                    </a:solidFill>
                  </a:tcPr>
                </a:tc>
                <a:tc>
                  <a:txBody>
                    <a:bodyPr wrap="square"/>
                    <a:lstStyle/>
                    <a:p>
                      <a:pPr algn="l"/>
                      <a:r>
                        <a:rPr sz="1400" b="0">
                          <a:solidFill>
                            <a:srgbClr val="172033"/>
                          </a:solidFill>
                          <a:latin typeface="Aptos"/>
                        </a:rPr>
                        <a:t>0.8400</a:t>
                      </a:r>
                    </a:p>
                  </a:txBody>
                  <a:tcPr>
                    <a:solidFill>
                      <a:srgbClr val="FFFFFF"/>
                    </a:solidFill>
                  </a:tcPr>
                </a:tc>
                <a:tc>
                  <a:txBody>
                    <a:bodyPr wrap="square"/>
                    <a:lstStyle/>
                    <a:p>
                      <a:pPr algn="l"/>
                      <a:r>
                        <a:rPr sz="1400" b="0">
                          <a:solidFill>
                            <a:srgbClr val="172033"/>
                          </a:solidFill>
                          <a:latin typeface="Aptos"/>
                        </a:rPr>
                        <a:t>0.8514</a:t>
                      </a:r>
                    </a:p>
                  </a:txBody>
                  <a:tcPr>
                    <a:solidFill>
                      <a:srgbClr val="FFFFFF"/>
                    </a:solidFill>
                  </a:tcPr>
                </a:tc>
                <a:tc>
                  <a:txBody>
                    <a:bodyPr wrap="square"/>
                    <a:lstStyle/>
                    <a:p>
                      <a:pPr algn="l"/>
                      <a:r>
                        <a:rPr sz="1400" b="0">
                          <a:solidFill>
                            <a:srgbClr val="172033"/>
                          </a:solidFill>
                          <a:latin typeface="Aptos"/>
                        </a:rPr>
                        <a:t>117</a:t>
                      </a:r>
                    </a:p>
                  </a:txBody>
                  <a:tcPr>
                    <a:solidFill>
                      <a:srgbClr val="FFFFFF"/>
                    </a:solidFill>
                  </a:tcPr>
                </a:tc>
                <a:tc>
                  <a:txBody>
                    <a:bodyPr wrap="square"/>
                    <a:lstStyle/>
                    <a:p>
                      <a:pPr algn="l"/>
                      <a:r>
                        <a:rPr sz="1400" b="0">
                          <a:solidFill>
                            <a:srgbClr val="172033"/>
                          </a:solidFill>
                          <a:latin typeface="Aptos"/>
                        </a:rPr>
                        <a:t>33.4% (117 / 350)</a:t>
                      </a:r>
                    </a:p>
                  </a:txBody>
                  <a:tcPr>
                    <a:solidFill>
                      <a:srgbClr val="FFFFFF"/>
                    </a:solidFill>
                  </a:tcPr>
                </a:tc>
              </a:tr>
              <a:tr h="530352">
                <a:tc>
                  <a:txBody>
                    <a:bodyPr wrap="square"/>
                    <a:lstStyle/>
                    <a:p>
                      <a:pPr algn="l"/>
                      <a:r>
                        <a:rPr sz="1400" b="0">
                          <a:solidFill>
                            <a:srgbClr val="172033"/>
                          </a:solidFill>
                          <a:latin typeface="Aptos"/>
                        </a:rPr>
                        <a:t>Polynomial (d=3)</a:t>
                      </a:r>
                    </a:p>
                  </a:txBody>
                  <a:tcPr>
                    <a:solidFill>
                      <a:srgbClr val="F8FAFC"/>
                    </a:solidFill>
                  </a:tcPr>
                </a:tc>
                <a:tc>
                  <a:txBody>
                    <a:bodyPr wrap="square"/>
                    <a:lstStyle/>
                    <a:p>
                      <a:pPr algn="l"/>
                      <a:r>
                        <a:rPr sz="1400" b="0">
                          <a:solidFill>
                            <a:srgbClr val="172033"/>
                          </a:solidFill>
                          <a:latin typeface="Aptos"/>
                        </a:rPr>
                        <a:t>0.8733</a:t>
                      </a:r>
                    </a:p>
                  </a:txBody>
                  <a:tcPr>
                    <a:solidFill>
                      <a:srgbClr val="F8FAFC"/>
                    </a:solidFill>
                  </a:tcPr>
                </a:tc>
                <a:tc>
                  <a:txBody>
                    <a:bodyPr wrap="square"/>
                    <a:lstStyle/>
                    <a:p>
                      <a:pPr algn="l"/>
                      <a:r>
                        <a:rPr sz="1400" b="0">
                          <a:solidFill>
                            <a:srgbClr val="172033"/>
                          </a:solidFill>
                          <a:latin typeface="Aptos"/>
                        </a:rPr>
                        <a:t>0.9242</a:t>
                      </a:r>
                    </a:p>
                  </a:txBody>
                  <a:tcPr>
                    <a:solidFill>
                      <a:srgbClr val="F8FAFC"/>
                    </a:solidFill>
                  </a:tcPr>
                </a:tc>
                <a:tc>
                  <a:txBody>
                    <a:bodyPr wrap="square"/>
                    <a:lstStyle/>
                    <a:p>
                      <a:pPr algn="l"/>
                      <a:r>
                        <a:rPr sz="1400" b="0">
                          <a:solidFill>
                            <a:srgbClr val="172033"/>
                          </a:solidFill>
                          <a:latin typeface="Aptos"/>
                        </a:rPr>
                        <a:t>0.8133</a:t>
                      </a:r>
                    </a:p>
                  </a:txBody>
                  <a:tcPr>
                    <a:solidFill>
                      <a:srgbClr val="F8FAFC"/>
                    </a:solidFill>
                  </a:tcPr>
                </a:tc>
                <a:tc>
                  <a:txBody>
                    <a:bodyPr wrap="square"/>
                    <a:lstStyle/>
                    <a:p>
                      <a:pPr algn="l"/>
                      <a:r>
                        <a:rPr sz="1400" b="0">
                          <a:solidFill>
                            <a:srgbClr val="172033"/>
                          </a:solidFill>
                          <a:latin typeface="Aptos"/>
                        </a:rPr>
                        <a:t>0.8652</a:t>
                      </a:r>
                    </a:p>
                  </a:txBody>
                  <a:tcPr>
                    <a:solidFill>
                      <a:srgbClr val="F8FAFC"/>
                    </a:solidFill>
                  </a:tcPr>
                </a:tc>
                <a:tc>
                  <a:txBody>
                    <a:bodyPr wrap="square"/>
                    <a:lstStyle/>
                    <a:p>
                      <a:pPr algn="l"/>
                      <a:r>
                        <a:rPr sz="1400" b="0">
                          <a:solidFill>
                            <a:srgbClr val="172033"/>
                          </a:solidFill>
                          <a:latin typeface="Aptos"/>
                        </a:rPr>
                        <a:t>118</a:t>
                      </a:r>
                    </a:p>
                  </a:txBody>
                  <a:tcPr>
                    <a:solidFill>
                      <a:srgbClr val="F8FAFC"/>
                    </a:solidFill>
                  </a:tcPr>
                </a:tc>
                <a:tc>
                  <a:txBody>
                    <a:bodyPr wrap="square"/>
                    <a:lstStyle/>
                    <a:p>
                      <a:pPr algn="l"/>
                      <a:r>
                        <a:rPr sz="1400" b="0">
                          <a:solidFill>
                            <a:srgbClr val="172033"/>
                          </a:solidFill>
                          <a:latin typeface="Aptos"/>
                        </a:rPr>
                        <a:t>33.7% (118 / 350)</a:t>
                      </a:r>
                    </a:p>
                  </a:txBody>
                  <a:tcPr>
                    <a:solidFill>
                      <a:srgbClr val="F8FAFC"/>
                    </a:solidFill>
                  </a:tcPr>
                </a:tc>
              </a:tr>
              <a:tr h="530352">
                <a:tc>
                  <a:txBody>
                    <a:bodyPr wrap="square"/>
                    <a:lstStyle/>
                    <a:p>
                      <a:pPr algn="l"/>
                      <a:r>
                        <a:rPr sz="1400" b="0">
                          <a:solidFill>
                            <a:srgbClr val="172033"/>
                          </a:solidFill>
                          <a:latin typeface="Aptos"/>
                        </a:rPr>
                        <a:t>RBF (Gaussian)</a:t>
                      </a:r>
                    </a:p>
                  </a:txBody>
                  <a:tcPr>
                    <a:solidFill>
                      <a:srgbClr val="FFFFFF"/>
                    </a:solidFill>
                  </a:tcPr>
                </a:tc>
                <a:tc>
                  <a:txBody>
                    <a:bodyPr wrap="square"/>
                    <a:lstStyle/>
                    <a:p>
                      <a:pPr algn="l"/>
                      <a:r>
                        <a:rPr sz="1400" b="0">
                          <a:solidFill>
                            <a:srgbClr val="172033"/>
                          </a:solidFill>
                          <a:latin typeface="Aptos"/>
                        </a:rPr>
                        <a:t>0.9467</a:t>
                      </a:r>
                    </a:p>
                  </a:txBody>
                  <a:tcPr>
                    <a:solidFill>
                      <a:srgbClr val="FFFFFF"/>
                    </a:solidFill>
                  </a:tcPr>
                </a:tc>
                <a:tc>
                  <a:txBody>
                    <a:bodyPr wrap="square"/>
                    <a:lstStyle/>
                    <a:p>
                      <a:pPr algn="l"/>
                      <a:r>
                        <a:rPr sz="1400" b="0">
                          <a:solidFill>
                            <a:srgbClr val="172033"/>
                          </a:solidFill>
                          <a:latin typeface="Aptos"/>
                        </a:rPr>
                        <a:t>0.9855</a:t>
                      </a:r>
                    </a:p>
                  </a:txBody>
                  <a:tcPr>
                    <a:solidFill>
                      <a:srgbClr val="FFFFFF"/>
                    </a:solidFill>
                  </a:tcPr>
                </a:tc>
                <a:tc>
                  <a:txBody>
                    <a:bodyPr wrap="square"/>
                    <a:lstStyle/>
                    <a:p>
                      <a:pPr algn="l"/>
                      <a:r>
                        <a:rPr sz="1400" b="0">
                          <a:solidFill>
                            <a:srgbClr val="172033"/>
                          </a:solidFill>
                          <a:latin typeface="Aptos"/>
                        </a:rPr>
                        <a:t>0.9067</a:t>
                      </a:r>
                    </a:p>
                  </a:txBody>
                  <a:tcPr>
                    <a:solidFill>
                      <a:srgbClr val="FFFFFF"/>
                    </a:solidFill>
                  </a:tcPr>
                </a:tc>
                <a:tc>
                  <a:txBody>
                    <a:bodyPr wrap="square"/>
                    <a:lstStyle/>
                    <a:p>
                      <a:pPr algn="l"/>
                      <a:r>
                        <a:rPr sz="1400" b="0">
                          <a:solidFill>
                            <a:srgbClr val="172033"/>
                          </a:solidFill>
                          <a:latin typeface="Aptos"/>
                        </a:rPr>
                        <a:t>0.9444</a:t>
                      </a:r>
                    </a:p>
                  </a:txBody>
                  <a:tcPr>
                    <a:solidFill>
                      <a:srgbClr val="FFFFFF"/>
                    </a:solidFill>
                  </a:tcPr>
                </a:tc>
                <a:tc>
                  <a:txBody>
                    <a:bodyPr wrap="square"/>
                    <a:lstStyle/>
                    <a:p>
                      <a:pPr algn="l"/>
                      <a:r>
                        <a:rPr sz="1400" b="0">
                          <a:solidFill>
                            <a:srgbClr val="172033"/>
                          </a:solidFill>
                          <a:latin typeface="Aptos"/>
                        </a:rPr>
                        <a:t>95</a:t>
                      </a:r>
                    </a:p>
                  </a:txBody>
                  <a:tcPr>
                    <a:solidFill>
                      <a:srgbClr val="FFFFFF"/>
                    </a:solidFill>
                  </a:tcPr>
                </a:tc>
                <a:tc>
                  <a:txBody>
                    <a:bodyPr wrap="square"/>
                    <a:lstStyle/>
                    <a:p>
                      <a:pPr algn="l"/>
                      <a:r>
                        <a:rPr sz="1400" b="0">
                          <a:solidFill>
                            <a:srgbClr val="172033"/>
                          </a:solidFill>
                          <a:latin typeface="Aptos"/>
                        </a:rPr>
                        <a:t>27.1% (95 / 350)</a:t>
                      </a:r>
                    </a:p>
                  </a:txBody>
                  <a:tcPr>
                    <a:solidFill>
                      <a:srgbClr val="FFFFFF"/>
                    </a:solidFill>
                  </a:tcPr>
                </a:tc>
              </a:tr>
            </a:tbl>
          </a:graphicData>
        </a:graphic>
      </p:graphicFrame>
      <p:sp>
        <p:nvSpPr>
          <p:cNvPr id="11" name="TextBox 10"/>
          <p:cNvSpPr txBox="1"/>
          <p:nvPr/>
        </p:nvSpPr>
        <p:spPr>
          <a:xfrm>
            <a:off x="640080" y="3813048"/>
            <a:ext cx="10911535" cy="320040"/>
          </a:xfrm>
          <a:prstGeom prst="rect">
            <a:avLst/>
          </a:prstGeom>
          <a:noFill/>
        </p:spPr>
        <p:txBody>
          <a:bodyPr wrap="square">
            <a:spAutoFit/>
          </a:bodyPr>
          <a:lstStyle/>
          <a:p>
            <a:pPr algn="l"/>
            <a:r>
              <a:rPr sz="1700" b="1" i="0">
                <a:solidFill>
                  <a:srgbClr val="172033"/>
                </a:solidFill>
                <a:latin typeface="Aptos"/>
              </a:rPr>
              <a:t>Key Quantitative Takeaways:</a:t>
            </a:r>
          </a:p>
        </p:txBody>
      </p:sp>
      <p:sp>
        <p:nvSpPr>
          <p:cNvPr id="12" name="Rectangle 11"/>
          <p:cNvSpPr/>
          <p:nvPr/>
        </p:nvSpPr>
        <p:spPr>
          <a:xfrm>
            <a:off x="640080" y="4178808"/>
            <a:ext cx="3456432" cy="1737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78808"/>
            <a:ext cx="54864" cy="1737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70248"/>
            <a:ext cx="3182112" cy="274320"/>
          </a:xfrm>
          <a:prstGeom prst="rect">
            <a:avLst/>
          </a:prstGeom>
          <a:noFill/>
        </p:spPr>
        <p:txBody>
          <a:bodyPr wrap="square">
            <a:spAutoFit/>
          </a:bodyPr>
          <a:lstStyle/>
          <a:p>
            <a:pPr algn="l"/>
            <a:r>
              <a:rPr sz="1500" b="1" i="0">
                <a:solidFill>
                  <a:srgbClr val="2563EB"/>
                </a:solidFill>
                <a:latin typeface="Aptos"/>
              </a:rPr>
              <a:t>+9.34% Accuracy Improvement</a:t>
            </a:r>
          </a:p>
        </p:txBody>
      </p:sp>
      <p:sp>
        <p:nvSpPr>
          <p:cNvPr id="15" name="TextBox 14"/>
          <p:cNvSpPr txBox="1"/>
          <p:nvPr/>
        </p:nvSpPr>
        <p:spPr>
          <a:xfrm>
            <a:off x="822960" y="4590288"/>
            <a:ext cx="3182112" cy="1234440"/>
          </a:xfrm>
          <a:prstGeom prst="rect">
            <a:avLst/>
          </a:prstGeom>
          <a:noFill/>
        </p:spPr>
        <p:txBody>
          <a:bodyPr wrap="square">
            <a:spAutoFit/>
          </a:bodyPr>
          <a:lstStyle/>
          <a:p>
            <a:pPr algn="l"/>
            <a:r>
              <a:rPr sz="1250" b="0" i="0">
                <a:solidFill>
                  <a:srgbClr val="374151"/>
                </a:solidFill>
                <a:latin typeface="Aptos"/>
              </a:rPr>
              <a:t>Switching from Linear (85.33%) to RBF (94.67%) yields a 9.34 percentage point surge in accuracy, cutting test errors by nearly two-thirds (from 22 errors down to only 8).</a:t>
            </a:r>
          </a:p>
        </p:txBody>
      </p:sp>
      <p:sp>
        <p:nvSpPr>
          <p:cNvPr id="16" name="Rectangle 15"/>
          <p:cNvSpPr/>
          <p:nvPr/>
        </p:nvSpPr>
        <p:spPr>
          <a:xfrm>
            <a:off x="4361688" y="4178808"/>
            <a:ext cx="3456432" cy="1737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61688" y="4178808"/>
            <a:ext cx="54864" cy="1737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44568" y="4270248"/>
            <a:ext cx="3182112" cy="274320"/>
          </a:xfrm>
          <a:prstGeom prst="rect">
            <a:avLst/>
          </a:prstGeom>
          <a:noFill/>
        </p:spPr>
        <p:txBody>
          <a:bodyPr wrap="square">
            <a:spAutoFit/>
          </a:bodyPr>
          <a:lstStyle/>
          <a:p>
            <a:pPr algn="l"/>
            <a:r>
              <a:rPr sz="1500" b="1" i="0">
                <a:solidFill>
                  <a:srgbClr val="2563EB"/>
                </a:solidFill>
                <a:latin typeface="Aptos"/>
              </a:rPr>
              <a:t>98.55% Precision on RBF</a:t>
            </a:r>
          </a:p>
        </p:txBody>
      </p:sp>
      <p:sp>
        <p:nvSpPr>
          <p:cNvPr id="19" name="TextBox 18"/>
          <p:cNvSpPr txBox="1"/>
          <p:nvPr/>
        </p:nvSpPr>
        <p:spPr>
          <a:xfrm>
            <a:off x="4544568" y="4590288"/>
            <a:ext cx="3182112" cy="1234440"/>
          </a:xfrm>
          <a:prstGeom prst="rect">
            <a:avLst/>
          </a:prstGeom>
          <a:noFill/>
        </p:spPr>
        <p:txBody>
          <a:bodyPr wrap="square">
            <a:spAutoFit/>
          </a:bodyPr>
          <a:lstStyle/>
          <a:p>
            <a:pPr algn="l"/>
            <a:r>
              <a:rPr sz="1250" b="0" i="0">
                <a:solidFill>
                  <a:srgbClr val="374151"/>
                </a:solidFill>
                <a:latin typeface="Aptos"/>
              </a:rPr>
              <a:t>RBF achieved near-perfect precision: out of 69 test points classified as positive, 68 were true positives and only 1 was a false positive! Linear and Poly suffered 10 and 5 false positives.</a:t>
            </a:r>
          </a:p>
        </p:txBody>
      </p:sp>
      <p:sp>
        <p:nvSpPr>
          <p:cNvPr id="20" name="Rectangle 19"/>
          <p:cNvSpPr/>
          <p:nvPr/>
        </p:nvSpPr>
        <p:spPr>
          <a:xfrm>
            <a:off x="8083296" y="4178808"/>
            <a:ext cx="3456432" cy="1737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3296" y="4178808"/>
            <a:ext cx="54864" cy="1737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4270248"/>
            <a:ext cx="3182112" cy="274320"/>
          </a:xfrm>
          <a:prstGeom prst="rect">
            <a:avLst/>
          </a:prstGeom>
          <a:noFill/>
        </p:spPr>
        <p:txBody>
          <a:bodyPr wrap="square">
            <a:spAutoFit/>
          </a:bodyPr>
          <a:lstStyle/>
          <a:p>
            <a:pPr algn="l"/>
            <a:r>
              <a:rPr sz="1500" b="1" i="0">
                <a:solidFill>
                  <a:srgbClr val="2563EB"/>
                </a:solidFill>
                <a:latin typeface="Aptos"/>
              </a:rPr>
              <a:t>19% Fewer Support Vectors</a:t>
            </a:r>
          </a:p>
        </p:txBody>
      </p:sp>
      <p:sp>
        <p:nvSpPr>
          <p:cNvPr id="23" name="TextBox 22"/>
          <p:cNvSpPr txBox="1"/>
          <p:nvPr/>
        </p:nvSpPr>
        <p:spPr>
          <a:xfrm>
            <a:off x="8266176" y="4590288"/>
            <a:ext cx="3182112" cy="1234440"/>
          </a:xfrm>
          <a:prstGeom prst="rect">
            <a:avLst/>
          </a:prstGeom>
          <a:noFill/>
        </p:spPr>
        <p:txBody>
          <a:bodyPr wrap="square">
            <a:spAutoFit/>
          </a:bodyPr>
          <a:lstStyle/>
          <a:p>
            <a:pPr algn="l"/>
            <a:r>
              <a:rPr sz="1250" b="0" i="0">
                <a:solidFill>
                  <a:srgbClr val="374151"/>
                </a:solidFill>
                <a:latin typeface="Aptos"/>
              </a:rPr>
              <a:t>RBF required only 95 support vectors compared to 117 for Linear and 118 for Poly. It achieves dramatically superior accuracy while maintaining higher model sparsity and faster inference.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05 — RESULTS &amp; ANALYSIS</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In-Depth Results Interpretation</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18 of 20</a:t>
            </a:r>
          </a:p>
        </p:txBody>
      </p:sp>
      <p:sp>
        <p:nvSpPr>
          <p:cNvPr id="9" name="TextBox 8"/>
          <p:cNvSpPr txBox="1"/>
          <p:nvPr/>
        </p:nvSpPr>
        <p:spPr>
          <a:xfrm>
            <a:off x="640080" y="1481328"/>
            <a:ext cx="5303520" cy="320040"/>
          </a:xfrm>
          <a:prstGeom prst="rect">
            <a:avLst/>
          </a:prstGeom>
          <a:noFill/>
        </p:spPr>
        <p:txBody>
          <a:bodyPr wrap="square">
            <a:spAutoFit/>
          </a:bodyPr>
          <a:lstStyle/>
          <a:p>
            <a:pPr algn="l"/>
            <a:r>
              <a:rPr sz="1800" b="1" i="0">
                <a:solidFill>
                  <a:srgbClr val="172033"/>
                </a:solidFill>
                <a:latin typeface="Aptos"/>
              </a:rPr>
              <a:t>The Support Vector Sparsity Paradox Explained</a:t>
            </a:r>
          </a:p>
        </p:txBody>
      </p:sp>
      <p:sp>
        <p:nvSpPr>
          <p:cNvPr id="10" name="TextBox 9"/>
          <p:cNvSpPr txBox="1"/>
          <p:nvPr/>
        </p:nvSpPr>
        <p:spPr>
          <a:xfrm>
            <a:off x="640080" y="1892808"/>
            <a:ext cx="5303520" cy="4114800"/>
          </a:xfrm>
          <a:prstGeom prst="rect">
            <a:avLst/>
          </a:prstGeom>
          <a:noFill/>
        </p:spPr>
        <p:txBody>
          <a:bodyPr wrap="square">
            <a:spAutoFit/>
          </a:bodyPr>
          <a:lstStyle/>
          <a:p>
            <a:pPr algn="l"/>
            <a:r>
              <a:rPr sz="1400">
                <a:solidFill>
                  <a:srgbClr val="172033"/>
                </a:solidFill>
                <a:latin typeface="Aptos"/>
              </a:rPr>
              <a:t>•  The Paradox: Intuition might suggest that a complex non-linear model requires more support vectors to memorize curved boundaries. But RBF used only 95 SVs (27.1%) vs 117 for Linear (33.4%).</a:t>
            </a:r>
          </a:p>
          <a:p>
            <a:pPr algn="l">
              <a:spcBef>
                <a:spcPts val="500"/>
              </a:spcBef>
            </a:pPr>
            <a:r>
              <a:rPr sz="1400">
                <a:solidFill>
                  <a:srgbClr val="172033"/>
                </a:solidFill>
                <a:latin typeface="Aptos"/>
              </a:rPr>
              <a:t>•  Geometric Explanation:</a:t>
            </a:r>
          </a:p>
          <a:p>
            <a:pPr algn="l">
              <a:spcBef>
                <a:spcPts val="500"/>
              </a:spcBef>
            </a:pPr>
            <a:r>
              <a:rPr sz="1200">
                <a:solidFill>
                  <a:srgbClr val="374151"/>
                </a:solidFill>
                <a:latin typeface="Aptos"/>
              </a:rPr>
              <a:t>    - - When a linear boundary is forced onto curved data, it fails to separate points along the crescent curve.</a:t>
            </a:r>
          </a:p>
          <a:p>
            <a:pPr algn="l">
              <a:spcBef>
                <a:spcPts val="500"/>
              </a:spcBef>
            </a:pPr>
            <a:r>
              <a:rPr sz="1200">
                <a:solidFill>
                  <a:srgbClr val="374151"/>
                </a:solidFill>
                <a:latin typeface="Aptos"/>
              </a:rPr>
              <a:t>    - - The QP optimizer generates large slack variables (ξᵢ &gt; 0) for dozens of points trapped on the wrong side of the margin.</a:t>
            </a:r>
          </a:p>
          <a:p>
            <a:pPr algn="l">
              <a:spcBef>
                <a:spcPts val="500"/>
              </a:spcBef>
            </a:pPr>
            <a:r>
              <a:rPr sz="1200">
                <a:solidFill>
                  <a:srgbClr val="374151"/>
                </a:solidFill>
                <a:latin typeface="Aptos"/>
              </a:rPr>
              <a:t>    - - Under soft-margin SVM, ANY point with ξᵢ &gt; 0 becomes a support vector (bounded support vector with αᵢ = C)!</a:t>
            </a:r>
          </a:p>
          <a:p>
            <a:pPr algn="l">
              <a:spcBef>
                <a:spcPts val="500"/>
              </a:spcBef>
            </a:pPr>
            <a:r>
              <a:rPr sz="1200">
                <a:solidFill>
                  <a:srgbClr val="374151"/>
                </a:solidFill>
                <a:latin typeface="Aptos"/>
              </a:rPr>
              <a:t>    - - Thus, Linear SVM accumulates dozens of 'artificial' support vectors simply due to model misspecification.</a:t>
            </a:r>
          </a:p>
          <a:p>
            <a:pPr algn="l">
              <a:spcBef>
                <a:spcPts val="500"/>
              </a:spcBef>
            </a:pPr>
            <a:r>
              <a:rPr sz="1400">
                <a:solidFill>
                  <a:srgbClr val="172033"/>
                </a:solidFill>
                <a:latin typeface="Aptos"/>
              </a:rPr>
              <a:t>•  RBF Manifold Alignment: Because RBF naturally fits the true data manifold, points in the moon interior are comfortably outside the margin (αᵢ = 0), yielding genuine model sparsity.</a:t>
            </a:r>
          </a:p>
        </p:txBody>
      </p:sp>
      <p:sp>
        <p:nvSpPr>
          <p:cNvPr id="11" name="TextBox 10"/>
          <p:cNvSpPr txBox="1"/>
          <p:nvPr/>
        </p:nvSpPr>
        <p:spPr>
          <a:xfrm>
            <a:off x="6336792" y="1481328"/>
            <a:ext cx="5212080" cy="320040"/>
          </a:xfrm>
          <a:prstGeom prst="rect">
            <a:avLst/>
          </a:prstGeom>
          <a:noFill/>
        </p:spPr>
        <p:txBody>
          <a:bodyPr wrap="square">
            <a:spAutoFit/>
          </a:bodyPr>
          <a:lstStyle/>
          <a:p>
            <a:pPr algn="l"/>
            <a:r>
              <a:rPr sz="1800" b="1" i="0">
                <a:solidFill>
                  <a:srgbClr val="2563EB"/>
                </a:solidFill>
                <a:latin typeface="Aptos"/>
              </a:rPr>
              <a:t>Why Polynomial (d=3) Lagged Behind RBF</a:t>
            </a:r>
          </a:p>
        </p:txBody>
      </p:sp>
      <p:sp>
        <p:nvSpPr>
          <p:cNvPr id="12" name="TextBox 11"/>
          <p:cNvSpPr txBox="1"/>
          <p:nvPr/>
        </p:nvSpPr>
        <p:spPr>
          <a:xfrm>
            <a:off x="6336792" y="1892808"/>
            <a:ext cx="5212080" cy="4114800"/>
          </a:xfrm>
          <a:prstGeom prst="rect">
            <a:avLst/>
          </a:prstGeom>
          <a:noFill/>
        </p:spPr>
        <p:txBody>
          <a:bodyPr wrap="square">
            <a:spAutoFit/>
          </a:bodyPr>
          <a:lstStyle/>
          <a:p>
            <a:pPr algn="l"/>
            <a:r>
              <a:rPr sz="1400">
                <a:solidFill>
                  <a:srgbClr val="172033"/>
                </a:solidFill>
                <a:latin typeface="Aptos"/>
              </a:rPr>
              <a:t>•  Global vs Local Boundary Mechanics:</a:t>
            </a:r>
          </a:p>
          <a:p>
            <a:pPr algn="l">
              <a:spcBef>
                <a:spcPts val="500"/>
              </a:spcBef>
            </a:pPr>
            <a:r>
              <a:rPr sz="1200">
                <a:solidFill>
                  <a:srgbClr val="374151"/>
                </a:solidFill>
                <a:latin typeface="Aptos"/>
              </a:rPr>
              <a:t>    - - Polynomial kernel operates globally: K(x, z) = (γ xᵀz + r)³. A cubic function continues out to infinity in all directions.</a:t>
            </a:r>
          </a:p>
          <a:p>
            <a:pPr algn="l">
              <a:spcBef>
                <a:spcPts val="500"/>
              </a:spcBef>
            </a:pPr>
            <a:r>
              <a:rPr sz="1200">
                <a:solidFill>
                  <a:srgbClr val="374151"/>
                </a:solidFill>
                <a:latin typeface="Aptos"/>
              </a:rPr>
              <a:t>    - - Bending the polynomial to fit the upper moon inevitably distorts the boundary in the lower quadrant.</a:t>
            </a:r>
          </a:p>
          <a:p>
            <a:pPr algn="l">
              <a:spcBef>
                <a:spcPts val="500"/>
              </a:spcBef>
            </a:pPr>
            <a:r>
              <a:rPr sz="1200">
                <a:solidFill>
                  <a:srgbClr val="374151"/>
                </a:solidFill>
                <a:latin typeface="Aptos"/>
              </a:rPr>
              <a:t>    - - In contrast, RBF is strictly local: exp(-γ||x - z||²) decays to zero away from support vectors, allowing independent curvature at both moons.</a:t>
            </a:r>
          </a:p>
          <a:p>
            <a:pPr algn="l">
              <a:spcBef>
                <a:spcPts val="500"/>
              </a:spcBef>
            </a:pPr>
            <a:r>
              <a:rPr sz="1400">
                <a:solidFill>
                  <a:srgbClr val="172033"/>
                </a:solidFill>
                <a:latin typeface="Aptos"/>
              </a:rPr>
              <a:t>•  Recall Penalty on Polynomial:</a:t>
            </a:r>
          </a:p>
          <a:p>
            <a:pPr algn="l">
              <a:spcBef>
                <a:spcPts val="500"/>
              </a:spcBef>
            </a:pPr>
            <a:r>
              <a:rPr sz="1200">
                <a:solidFill>
                  <a:srgbClr val="374151"/>
                </a:solidFill>
                <a:latin typeface="Aptos"/>
              </a:rPr>
              <a:t>    - - Notice Poly's Recall was only 0.8133 (lowest of all three models!). It was overly conservative, sacrificing 14 positive points (False Negatives) to maintain 92.4% precision.</a:t>
            </a:r>
          </a:p>
          <a:p>
            <a:pPr algn="l">
              <a:spcBef>
                <a:spcPts val="500"/>
              </a:spcBef>
            </a:pPr>
            <a:r>
              <a:rPr sz="1400">
                <a:solidFill>
                  <a:srgbClr val="172033"/>
                </a:solidFill>
                <a:latin typeface="Aptos"/>
              </a:rPr>
              <a:t>•  Conclusion: For closed or interlocking geometric manifolds, radial distance similarity (RBF) is fundamentally superior to polynomial dot-product expansion.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06 — DEMONSTRATION &amp; ACTIVITY</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Live Demonstration &amp; Interactive Exercise</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19 of 20</a:t>
            </a:r>
          </a:p>
        </p:txBody>
      </p:sp>
      <p:sp>
        <p:nvSpPr>
          <p:cNvPr id="9" name="TextBox 8"/>
          <p:cNvSpPr txBox="1"/>
          <p:nvPr/>
        </p:nvSpPr>
        <p:spPr>
          <a:xfrm>
            <a:off x="640080" y="1481328"/>
            <a:ext cx="5272887" cy="320040"/>
          </a:xfrm>
          <a:prstGeom prst="rect">
            <a:avLst/>
          </a:prstGeom>
          <a:noFill/>
        </p:spPr>
        <p:txBody>
          <a:bodyPr wrap="square">
            <a:spAutoFit/>
          </a:bodyPr>
          <a:lstStyle/>
          <a:p>
            <a:pPr algn="l"/>
            <a:r>
              <a:rPr sz="1800" b="1" i="0">
                <a:solidFill>
                  <a:srgbClr val="172033"/>
                </a:solidFill>
                <a:latin typeface="Aptos"/>
              </a:rPr>
              <a:t>Part A: Terminal Demonstration</a:t>
            </a:r>
          </a:p>
        </p:txBody>
      </p:sp>
      <p:sp>
        <p:nvSpPr>
          <p:cNvPr id="10" name="Rectangle 9"/>
          <p:cNvSpPr/>
          <p:nvPr/>
        </p:nvSpPr>
        <p:spPr>
          <a:xfrm>
            <a:off x="640080" y="1892808"/>
            <a:ext cx="5272887" cy="11887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92808"/>
            <a:ext cx="5272887"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75688"/>
            <a:ext cx="4907127" cy="822960"/>
          </a:xfrm>
          <a:prstGeom prst="rect">
            <a:avLst/>
          </a:prstGeom>
          <a:noFill/>
        </p:spPr>
        <p:txBody>
          <a:bodyPr wrap="square">
            <a:spAutoFit/>
          </a:bodyPr>
          <a:lstStyle/>
          <a:p>
            <a:pPr algn="l"/>
            <a:r>
              <a:rPr sz="1400" b="1" i="0">
                <a:solidFill>
                  <a:srgbClr val="172033"/>
                </a:solidFill>
                <a:latin typeface="Courier New"/>
              </a:rPr>
              <a:t>$ python 01_svm_kernel_comparison.py
Execution time: ~1.8 seconds
Outputs: metrics table + 2 high-res plots</a:t>
            </a:r>
          </a:p>
        </p:txBody>
      </p:sp>
      <p:sp>
        <p:nvSpPr>
          <p:cNvPr id="13" name="TextBox 12"/>
          <p:cNvSpPr txBox="1"/>
          <p:nvPr/>
        </p:nvSpPr>
        <p:spPr>
          <a:xfrm>
            <a:off x="640080" y="3264407"/>
            <a:ext cx="5272887" cy="2743200"/>
          </a:xfrm>
          <a:prstGeom prst="rect">
            <a:avLst/>
          </a:prstGeom>
          <a:noFill/>
        </p:spPr>
        <p:txBody>
          <a:bodyPr wrap="square">
            <a:spAutoFit/>
          </a:bodyPr>
          <a:lstStyle/>
          <a:p>
            <a:pPr algn="l"/>
            <a:r>
              <a:rPr sz="1350">
                <a:solidFill>
                  <a:srgbClr val="172033"/>
                </a:solidFill>
                <a:latin typeface="Aptos"/>
              </a:rPr>
              <a:t>•  Execution Steps Demonstrated in Real-Time:</a:t>
            </a:r>
          </a:p>
          <a:p>
            <a:pPr algn="l">
              <a:spcBef>
                <a:spcPts val="400"/>
              </a:spcBef>
            </a:pPr>
            <a:r>
              <a:rPr sz="1150">
                <a:solidFill>
                  <a:srgbClr val="374151"/>
                </a:solidFill>
                <a:latin typeface="Aptos"/>
              </a:rPr>
              <a:t>    - 1. Dataset synthesis (500 samples, noise=0.25).</a:t>
            </a:r>
          </a:p>
          <a:p>
            <a:pPr algn="l">
              <a:spcBef>
                <a:spcPts val="400"/>
              </a:spcBef>
            </a:pPr>
            <a:r>
              <a:rPr sz="1150">
                <a:solidFill>
                  <a:srgbClr val="374151"/>
                </a:solidFill>
                <a:latin typeface="Aptos"/>
              </a:rPr>
              <a:t>    - 2. Feature scaling via StandardScaler.</a:t>
            </a:r>
          </a:p>
          <a:p>
            <a:pPr algn="l">
              <a:spcBef>
                <a:spcPts val="400"/>
              </a:spcBef>
            </a:pPr>
            <a:r>
              <a:rPr sz="1150">
                <a:solidFill>
                  <a:srgbClr val="374151"/>
                </a:solidFill>
                <a:latin typeface="Aptos"/>
              </a:rPr>
              <a:t>    - 3. Model fitting for Linear, Poly (d=3), and RBF.</a:t>
            </a:r>
          </a:p>
          <a:p>
            <a:pPr algn="l">
              <a:spcBef>
                <a:spcPts val="400"/>
              </a:spcBef>
            </a:pPr>
            <a:r>
              <a:rPr sz="1150">
                <a:solidFill>
                  <a:srgbClr val="374151"/>
                </a:solidFill>
                <a:latin typeface="Aptos"/>
              </a:rPr>
              <a:t>    - 4. Generation of svm_decision_boundaries.png (18x5.5 inches) and svm_metrics_comparison.png.</a:t>
            </a:r>
          </a:p>
          <a:p>
            <a:pPr algn="l">
              <a:spcBef>
                <a:spcPts val="400"/>
              </a:spcBef>
            </a:pPr>
            <a:r>
              <a:rPr sz="1150">
                <a:solidFill>
                  <a:srgbClr val="374151"/>
                </a:solidFill>
                <a:latin typeface="Aptos"/>
              </a:rPr>
              <a:t>    - 5. Verification that output values in svm_results.txt match presentation tables with 100% precision.</a:t>
            </a:r>
          </a:p>
        </p:txBody>
      </p:sp>
      <p:sp>
        <p:nvSpPr>
          <p:cNvPr id="14" name="TextBox 13"/>
          <p:cNvSpPr txBox="1"/>
          <p:nvPr/>
        </p:nvSpPr>
        <p:spPr>
          <a:xfrm>
            <a:off x="6278727" y="1481328"/>
            <a:ext cx="5272887" cy="320040"/>
          </a:xfrm>
          <a:prstGeom prst="rect">
            <a:avLst/>
          </a:prstGeom>
          <a:noFill/>
        </p:spPr>
        <p:txBody>
          <a:bodyPr wrap="square">
            <a:spAutoFit/>
          </a:bodyPr>
          <a:lstStyle/>
          <a:p>
            <a:pPr algn="l"/>
            <a:r>
              <a:rPr sz="1800" b="1" i="0">
                <a:solidFill>
                  <a:srgbClr val="2563EB"/>
                </a:solidFill>
                <a:latin typeface="Aptos"/>
              </a:rPr>
              <a:t>Part B: Interactive Audience Question (30 sec)</a:t>
            </a:r>
          </a:p>
        </p:txBody>
      </p:sp>
      <p:sp>
        <p:nvSpPr>
          <p:cNvPr id="15" name="Rectangle 14"/>
          <p:cNvSpPr/>
          <p:nvPr/>
        </p:nvSpPr>
        <p:spPr>
          <a:xfrm>
            <a:off x="6278727" y="1892808"/>
            <a:ext cx="5272887" cy="12801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607" y="1984248"/>
            <a:ext cx="4907127" cy="1097280"/>
          </a:xfrm>
          <a:prstGeom prst="rect">
            <a:avLst/>
          </a:prstGeom>
          <a:noFill/>
        </p:spPr>
        <p:txBody>
          <a:bodyPr wrap="square">
            <a:spAutoFit/>
          </a:bodyPr>
          <a:lstStyle/>
          <a:p>
            <a:pPr algn="l"/>
            <a:r>
              <a:rPr sz="1300" b="1" i="0">
                <a:solidFill>
                  <a:srgbClr val="1E40AF"/>
                </a:solidFill>
                <a:latin typeface="Aptos"/>
              </a:rPr>
              <a:t>ACTIVE LEARNING CHALLENGE:
'If dataset noise σ increases from 0.25 to 0.65 (extreme class overlap), which hyperparameter modification is most essential to prevent RBF SVM from severe overfitting?'</a:t>
            </a:r>
          </a:p>
        </p:txBody>
      </p:sp>
      <p:sp>
        <p:nvSpPr>
          <p:cNvPr id="17" name="TextBox 16"/>
          <p:cNvSpPr txBox="1"/>
          <p:nvPr/>
        </p:nvSpPr>
        <p:spPr>
          <a:xfrm>
            <a:off x="6278727" y="3310128"/>
            <a:ext cx="5272887" cy="2743200"/>
          </a:xfrm>
          <a:prstGeom prst="rect">
            <a:avLst/>
          </a:prstGeom>
          <a:noFill/>
        </p:spPr>
        <p:txBody>
          <a:bodyPr wrap="square">
            <a:spAutoFit/>
          </a:bodyPr>
          <a:lstStyle/>
          <a:p>
            <a:pPr algn="l"/>
            <a:r>
              <a:rPr sz="1300">
                <a:solidFill>
                  <a:srgbClr val="172033"/>
                </a:solidFill>
                <a:latin typeface="Aptos"/>
              </a:rPr>
              <a:t>•  Option A: Increase C to 100 (heavily penalize errors).</a:t>
            </a:r>
          </a:p>
          <a:p>
            <a:pPr algn="l">
              <a:spcBef>
                <a:spcPts val="400"/>
              </a:spcBef>
            </a:pPr>
            <a:r>
              <a:rPr sz="1300">
                <a:solidFill>
                  <a:srgbClr val="172033"/>
                </a:solidFill>
                <a:latin typeface="Aptos"/>
              </a:rPr>
              <a:t>•  Option B: Decrease C (e.g. C=0.1) and decrease γ (e.g. γ=0.1).</a:t>
            </a:r>
          </a:p>
          <a:p>
            <a:pPr algn="l">
              <a:spcBef>
                <a:spcPts val="400"/>
              </a:spcBef>
            </a:pPr>
            <a:r>
              <a:rPr sz="1300">
                <a:solidFill>
                  <a:srgbClr val="172033"/>
                </a:solidFill>
                <a:latin typeface="Aptos"/>
              </a:rPr>
              <a:t>•  Option C: Switch to a 7th-degree Polynomial Kernel.</a:t>
            </a:r>
          </a:p>
          <a:p>
            <a:pPr algn="l">
              <a:spcBef>
                <a:spcPts val="400"/>
              </a:spcBef>
            </a:pPr>
            <a:r>
              <a:rPr sz="1300">
                <a:solidFill>
                  <a:srgbClr val="172033"/>
                </a:solidFill>
                <a:latin typeface="Aptos"/>
              </a:rPr>
              <a:t>•  CORRECT ANSWER: Option B!</a:t>
            </a:r>
          </a:p>
          <a:p>
            <a:pPr algn="l">
              <a:spcBef>
                <a:spcPts val="400"/>
              </a:spcBef>
            </a:pPr>
            <a:r>
              <a:rPr sz="1300">
                <a:solidFill>
                  <a:srgbClr val="172033"/>
                </a:solidFill>
                <a:latin typeface="Aptos"/>
              </a:rPr>
              <a:t>•  Explanation: Extreme noise means classes overlap heavily. Decreasing C widens the margin and tolerates noisy misclassifications. Decreasing γ broadens Gaussian curves, preventing the model from fitting tight 'island' boundaries around random noisy outliers.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10911535" cy="219456"/>
          </a:xfrm>
          <a:prstGeom prst="rect">
            <a:avLst/>
          </a:prstGeom>
          <a:noFill/>
        </p:spPr>
        <p:txBody>
          <a:bodyPr wrap="square">
            <a:spAutoFit/>
          </a:bodyPr>
          <a:lstStyle/>
          <a:p>
            <a:pPr algn="l"/>
            <a:r>
              <a:rPr sz="1000" b="1" i="0">
                <a:solidFill>
                  <a:srgbClr val="2563EB"/>
                </a:solidFill>
                <a:latin typeface="Aptos"/>
              </a:rPr>
              <a:t>07 — CONCLUSION</a:t>
            </a:r>
          </a:p>
        </p:txBody>
      </p:sp>
      <p:sp>
        <p:nvSpPr>
          <p:cNvPr id="4" name="TextBox 3"/>
          <p:cNvSpPr txBox="1"/>
          <p:nvPr/>
        </p:nvSpPr>
        <p:spPr>
          <a:xfrm>
            <a:off x="640080" y="676656"/>
            <a:ext cx="10911535" cy="512064"/>
          </a:xfrm>
          <a:prstGeom prst="rect">
            <a:avLst/>
          </a:prstGeom>
          <a:noFill/>
        </p:spPr>
        <p:txBody>
          <a:bodyPr wrap="square">
            <a:spAutoFit/>
          </a:bodyPr>
          <a:lstStyle/>
          <a:p>
            <a:pPr algn="l"/>
            <a:r>
              <a:rPr sz="3000" b="1" i="0">
                <a:solidFill>
                  <a:srgbClr val="172033"/>
                </a:solidFill>
                <a:latin typeface="Aptos Display"/>
              </a:rPr>
              <a:t>Key Takeaways &amp; Practical Engineering Rules</a:t>
            </a:r>
          </a:p>
        </p:txBody>
      </p:sp>
      <p:sp>
        <p:nvSpPr>
          <p:cNvPr id="5" name="Rectangle 4"/>
          <p:cNvSpPr/>
          <p:nvPr/>
        </p:nvSpPr>
        <p:spPr>
          <a:xfrm>
            <a:off x="640080" y="1207008"/>
            <a:ext cx="10911535"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28816"/>
            <a:ext cx="7772400" cy="256032"/>
          </a:xfrm>
          <a:prstGeom prst="rect">
            <a:avLst/>
          </a:prstGeom>
          <a:noFill/>
        </p:spPr>
        <p:txBody>
          <a:bodyPr wrap="square">
            <a:spAutoFit/>
          </a:bodyPr>
          <a:lstStyle/>
          <a:p>
            <a:pPr algn="l"/>
            <a:r>
              <a:rPr sz="900" b="0" i="0">
                <a:solidFill>
                  <a:srgbClr val="6B7280"/>
                </a:solidFill>
                <a:latin typeface="Aptos"/>
              </a:rPr>
              <a:t>SVM WITH DIFFERENT KERNELS  |  MACHINE LEARNING SEMINAR</a:t>
            </a:r>
          </a:p>
        </p:txBody>
      </p:sp>
      <p:sp>
        <p:nvSpPr>
          <p:cNvPr id="8" name="TextBox 7"/>
          <p:cNvSpPr txBox="1"/>
          <p:nvPr/>
        </p:nvSpPr>
        <p:spPr>
          <a:xfrm>
            <a:off x="10180015" y="6528816"/>
            <a:ext cx="1371600" cy="256032"/>
          </a:xfrm>
          <a:prstGeom prst="rect">
            <a:avLst/>
          </a:prstGeom>
          <a:noFill/>
        </p:spPr>
        <p:txBody>
          <a:bodyPr wrap="square">
            <a:spAutoFit/>
          </a:bodyPr>
          <a:lstStyle/>
          <a:p>
            <a:pPr algn="r"/>
            <a:r>
              <a:rPr sz="900" b="0" i="0">
                <a:solidFill>
                  <a:srgbClr val="6B7280"/>
                </a:solidFill>
                <a:latin typeface="Aptos"/>
              </a:rPr>
              <a:t>Slide 20 of 20</a:t>
            </a:r>
          </a:p>
        </p:txBody>
      </p:sp>
      <p:sp>
        <p:nvSpPr>
          <p:cNvPr id="9" name="Rectangle 8"/>
          <p:cNvSpPr/>
          <p:nvPr/>
        </p:nvSpPr>
        <p:spPr>
          <a:xfrm>
            <a:off x="640080" y="1572768"/>
            <a:ext cx="3456432" cy="3200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72768"/>
            <a:ext cx="3456432"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9928"/>
            <a:ext cx="3090672" cy="320040"/>
          </a:xfrm>
          <a:prstGeom prst="rect">
            <a:avLst/>
          </a:prstGeom>
          <a:noFill/>
        </p:spPr>
        <p:txBody>
          <a:bodyPr wrap="square">
            <a:spAutoFit/>
          </a:bodyPr>
          <a:lstStyle/>
          <a:p>
            <a:pPr algn="l"/>
            <a:r>
              <a:rPr sz="1600" b="1" i="0">
                <a:solidFill>
                  <a:srgbClr val="172033"/>
                </a:solidFill>
                <a:latin typeface="Aptos"/>
              </a:rPr>
              <a:t>1. Match Kernel to Geometry</a:t>
            </a:r>
          </a:p>
        </p:txBody>
      </p:sp>
      <p:sp>
        <p:nvSpPr>
          <p:cNvPr id="12" name="TextBox 11"/>
          <p:cNvSpPr txBox="1"/>
          <p:nvPr/>
        </p:nvSpPr>
        <p:spPr>
          <a:xfrm>
            <a:off x="822960" y="2121408"/>
            <a:ext cx="3090672" cy="2468880"/>
          </a:xfrm>
          <a:prstGeom prst="rect">
            <a:avLst/>
          </a:prstGeom>
          <a:noFill/>
        </p:spPr>
        <p:txBody>
          <a:bodyPr wrap="square">
            <a:spAutoFit/>
          </a:bodyPr>
          <a:lstStyle/>
          <a:p>
            <a:pPr algn="l"/>
            <a:r>
              <a:rPr sz="1350">
                <a:solidFill>
                  <a:srgbClr val="172033"/>
                </a:solidFill>
                <a:latin typeface="Aptos"/>
              </a:rPr>
              <a:t>•  A linear kernel represents an inductive bias towards flat hyperplanes.</a:t>
            </a:r>
          </a:p>
          <a:p>
            <a:pPr algn="l">
              <a:spcBef>
                <a:spcPts val="500"/>
              </a:spcBef>
            </a:pPr>
            <a:r>
              <a:rPr sz="1350">
                <a:solidFill>
                  <a:srgbClr val="172033"/>
                </a:solidFill>
                <a:latin typeface="Aptos"/>
              </a:rPr>
              <a:t>•  When data has non-linear manifold structure (like two-moons), Linear SVM suffers high bias (ceiling: 85.33%).</a:t>
            </a:r>
          </a:p>
          <a:p>
            <a:pPr algn="l">
              <a:spcBef>
                <a:spcPts val="500"/>
              </a:spcBef>
            </a:pPr>
            <a:r>
              <a:rPr sz="1350">
                <a:solidFill>
                  <a:srgbClr val="172033"/>
                </a:solidFill>
                <a:latin typeface="Aptos"/>
              </a:rPr>
              <a:t>•  RBF kernel universally adapts to complex topologies via infinite-D mapping, reaching 94.67% accuracy.</a:t>
            </a:r>
          </a:p>
        </p:txBody>
      </p:sp>
      <p:sp>
        <p:nvSpPr>
          <p:cNvPr id="13" name="Rectangle 12"/>
          <p:cNvSpPr/>
          <p:nvPr/>
        </p:nvSpPr>
        <p:spPr>
          <a:xfrm>
            <a:off x="4361688" y="1572768"/>
            <a:ext cx="3456432" cy="3200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1572768"/>
            <a:ext cx="3456432"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709928"/>
            <a:ext cx="3090672" cy="320040"/>
          </a:xfrm>
          <a:prstGeom prst="rect">
            <a:avLst/>
          </a:prstGeom>
          <a:noFill/>
        </p:spPr>
        <p:txBody>
          <a:bodyPr wrap="square">
            <a:spAutoFit/>
          </a:bodyPr>
          <a:lstStyle/>
          <a:p>
            <a:pPr algn="l"/>
            <a:r>
              <a:rPr sz="1600" b="1" i="0">
                <a:solidFill>
                  <a:srgbClr val="172033"/>
                </a:solidFill>
                <a:latin typeface="Aptos"/>
              </a:rPr>
              <a:t>2. Sparsity as a Diagnostic</a:t>
            </a:r>
          </a:p>
        </p:txBody>
      </p:sp>
      <p:sp>
        <p:nvSpPr>
          <p:cNvPr id="16" name="TextBox 15"/>
          <p:cNvSpPr txBox="1"/>
          <p:nvPr/>
        </p:nvSpPr>
        <p:spPr>
          <a:xfrm>
            <a:off x="4544568" y="2121408"/>
            <a:ext cx="3090672" cy="2468880"/>
          </a:xfrm>
          <a:prstGeom prst="rect">
            <a:avLst/>
          </a:prstGeom>
          <a:noFill/>
        </p:spPr>
        <p:txBody>
          <a:bodyPr wrap="square">
            <a:spAutoFit/>
          </a:bodyPr>
          <a:lstStyle/>
          <a:p>
            <a:pPr algn="l"/>
            <a:r>
              <a:rPr sz="1350">
                <a:solidFill>
                  <a:srgbClr val="172033"/>
                </a:solidFill>
                <a:latin typeface="Aptos"/>
              </a:rPr>
              <a:t>•  Support vector count is a direct indicator of manifold fit.</a:t>
            </a:r>
          </a:p>
          <a:p>
            <a:pPr algn="l">
              <a:spcBef>
                <a:spcPts val="500"/>
              </a:spcBef>
            </a:pPr>
            <a:r>
              <a:rPr sz="1350">
                <a:solidFill>
                  <a:srgbClr val="172033"/>
                </a:solidFill>
                <a:latin typeface="Aptos"/>
              </a:rPr>
              <a:t>•  Underfitting models accumulate excessive support vectors (117/118) because misclassified points become bounded SVs.</a:t>
            </a:r>
          </a:p>
          <a:p>
            <a:pPr algn="l">
              <a:spcBef>
                <a:spcPts val="500"/>
              </a:spcBef>
            </a:pPr>
            <a:r>
              <a:rPr sz="1350">
                <a:solidFill>
                  <a:srgbClr val="172033"/>
                </a:solidFill>
                <a:latin typeface="Aptos"/>
              </a:rPr>
              <a:t>•  The best-fitting model (RBF) achieved highest accuracy with FEWEST support vectors (95).</a:t>
            </a:r>
          </a:p>
        </p:txBody>
      </p:sp>
      <p:sp>
        <p:nvSpPr>
          <p:cNvPr id="17" name="Rectangle 16"/>
          <p:cNvSpPr/>
          <p:nvPr/>
        </p:nvSpPr>
        <p:spPr>
          <a:xfrm>
            <a:off x="8083296" y="1572768"/>
            <a:ext cx="3456432" cy="3200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572768"/>
            <a:ext cx="3456432"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1709928"/>
            <a:ext cx="3090672" cy="320040"/>
          </a:xfrm>
          <a:prstGeom prst="rect">
            <a:avLst/>
          </a:prstGeom>
          <a:noFill/>
        </p:spPr>
        <p:txBody>
          <a:bodyPr wrap="square">
            <a:spAutoFit/>
          </a:bodyPr>
          <a:lstStyle/>
          <a:p>
            <a:pPr algn="l"/>
            <a:r>
              <a:rPr sz="1600" b="1" i="0">
                <a:solidFill>
                  <a:srgbClr val="172033"/>
                </a:solidFill>
                <a:latin typeface="Aptos"/>
              </a:rPr>
              <a:t>3. Practical ML Rules</a:t>
            </a:r>
          </a:p>
        </p:txBody>
      </p:sp>
      <p:sp>
        <p:nvSpPr>
          <p:cNvPr id="20" name="TextBox 19"/>
          <p:cNvSpPr txBox="1"/>
          <p:nvPr/>
        </p:nvSpPr>
        <p:spPr>
          <a:xfrm>
            <a:off x="8266176" y="2121408"/>
            <a:ext cx="3090672" cy="2468880"/>
          </a:xfrm>
          <a:prstGeom prst="rect">
            <a:avLst/>
          </a:prstGeom>
          <a:noFill/>
        </p:spPr>
        <p:txBody>
          <a:bodyPr wrap="square">
            <a:spAutoFit/>
          </a:bodyPr>
          <a:lstStyle/>
          <a:p>
            <a:pPr algn="l"/>
            <a:r>
              <a:rPr sz="1350">
                <a:solidFill>
                  <a:srgbClr val="172033"/>
                </a:solidFill>
                <a:latin typeface="Aptos"/>
              </a:rPr>
              <a:t>•  Rule 1: If features d &gt;&gt; samples n (text, genomics), use Linear SVM.</a:t>
            </a:r>
          </a:p>
          <a:p>
            <a:pPr algn="l">
              <a:spcBef>
                <a:spcPts val="500"/>
              </a:spcBef>
            </a:pPr>
            <a:r>
              <a:rPr sz="1350">
                <a:solidFill>
                  <a:srgbClr val="172033"/>
                </a:solidFill>
                <a:latin typeface="Aptos"/>
              </a:rPr>
              <a:t>•  Rule 2: If samples n is moderate (up to 50k) and d is small, use RBF with tuned C and γ.</a:t>
            </a:r>
          </a:p>
          <a:p>
            <a:pPr algn="l">
              <a:spcBef>
                <a:spcPts val="500"/>
              </a:spcBef>
            </a:pPr>
            <a:r>
              <a:rPr sz="1350">
                <a:solidFill>
                  <a:srgbClr val="172033"/>
                </a:solidFill>
                <a:latin typeface="Aptos"/>
              </a:rPr>
              <a:t>•  Rule 3: ALWAYS apply StandardScaler before training SVM to prevent feature dominance.</a:t>
            </a:r>
          </a:p>
        </p:txBody>
      </p:sp>
      <p:sp>
        <p:nvSpPr>
          <p:cNvPr id="21" name="Rectangle 20"/>
          <p:cNvSpPr/>
          <p:nvPr/>
        </p:nvSpPr>
        <p:spPr>
          <a:xfrm>
            <a:off x="640080" y="5001768"/>
            <a:ext cx="10911535" cy="8229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093208"/>
            <a:ext cx="10362895" cy="640080"/>
          </a:xfrm>
          <a:prstGeom prst="rect">
            <a:avLst/>
          </a:prstGeom>
          <a:noFill/>
        </p:spPr>
        <p:txBody>
          <a:bodyPr wrap="square">
            <a:spAutoFit/>
          </a:bodyPr>
          <a:lstStyle/>
          <a:p>
            <a:pPr algn="l"/>
            <a:r>
              <a:rPr sz="1350" b="1" i="0">
                <a:solidFill>
                  <a:srgbClr val="1E40AF"/>
                </a:solidFill>
                <a:latin typeface="Aptos"/>
              </a:rPr>
              <a:t>SUMMARY CONCLUSION: Support Vector Machines remain one of the most mathematically rigorous algorithms in machine learning. Through the kernel trick, SVM achieves infinite-dimensional expressive power while preserving convex optimization guarantees.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